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4.xml" ContentType="application/vnd.openxmlformats-officedocument.presentationml.notesSlide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6" r:id="rId2"/>
    <p:sldId id="257" r:id="rId3"/>
    <p:sldId id="274" r:id="rId4"/>
    <p:sldId id="286" r:id="rId5"/>
    <p:sldId id="276" r:id="rId6"/>
    <p:sldId id="272" r:id="rId7"/>
    <p:sldId id="295" r:id="rId8"/>
    <p:sldId id="304" r:id="rId9"/>
    <p:sldId id="277" r:id="rId10"/>
    <p:sldId id="290" r:id="rId11"/>
    <p:sldId id="278" r:id="rId12"/>
    <p:sldId id="297" r:id="rId13"/>
    <p:sldId id="298" r:id="rId14"/>
    <p:sldId id="288" r:id="rId15"/>
    <p:sldId id="273" r:id="rId16"/>
    <p:sldId id="264" r:id="rId17"/>
    <p:sldId id="303" r:id="rId18"/>
    <p:sldId id="301" r:id="rId19"/>
    <p:sldId id="279" r:id="rId20"/>
    <p:sldId id="293" r:id="rId21"/>
    <p:sldId id="294" r:id="rId22"/>
    <p:sldId id="289" r:id="rId23"/>
    <p:sldId id="280" r:id="rId24"/>
    <p:sldId id="296" r:id="rId25"/>
    <p:sldId id="281" r:id="rId26"/>
    <p:sldId id="282" r:id="rId27"/>
    <p:sldId id="302" r:id="rId28"/>
    <p:sldId id="291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rege, Susanne L. (GSFC-5820)" initials="SSL(" lastIdx="34" clrIdx="0">
    <p:extLst>
      <p:ext uri="{19B8F6BF-5375-455C-9EA6-DF929625EA0E}">
        <p15:presenceInfo xmlns:p15="http://schemas.microsoft.com/office/powerpoint/2012/main" userId="S-1-5-21-330711430-3775241029-4075259233-93208" providerId="AD"/>
      </p:ext>
    </p:extLst>
  </p:cmAuthor>
  <p:cmAuthor id="2" name="Zogby, Charles A. (GSFC-5820)" initials="ZCA(" lastIdx="34" clrIdx="1">
    <p:extLst>
      <p:ext uri="{19B8F6BF-5375-455C-9EA6-DF929625EA0E}">
        <p15:presenceInfo xmlns:p15="http://schemas.microsoft.com/office/powerpoint/2012/main" userId="S-1-5-21-330711430-3775241029-4075259233-29412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EE42"/>
    <a:srgbClr val="00CCFF"/>
    <a:srgbClr val="33CC33"/>
    <a:srgbClr val="3333CC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101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20:21:24.6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24575,'6'1'0,"-1"1"0,0 0 0,0-1 0,0 2 0,-1-1 0,1 0 0,0 1 0,-1 0 0,1 0 0,-1 1 0,5 4 0,15 10 0,850 602-445,-25 41-1622,-614-476 746,1434 1154 647,395 309 805,-452-430-784,53-84-561,-52-173 627,794 512-484,-1140-608 1063,-637-427 6,617 360 379,-74-136 3507,-609-385-549,-403-201-3020,39-1-315,-35-16 0,869 391 0,-974-425-103,151 72-1159,-182-79-5564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20:21:46.0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24575,'5'1'0,"0"0"0,0 1 0,0 0 0,0-1 0,0 1 0,-1 1 0,1-1 0,-1 1 0,1 0 0,4 4 0,25 14 0,1454 732-2101,-1244-632 1581,342 170-1861,70 31 1187,66 15-1203,1571 650 1798,1016 303-148,-1657-658 7108,-686-226-3399,-333-116-4455,-140-58 456,-397-187-4008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20:21:56.5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24575,'4'0'0,"1"1"0,0-1 0,-1 1 0,1 0 0,-1 1 0,1-1 0,-1 1 0,0-1 0,0 1 0,6 4 0,16 6 0,770 394-68,-596-297-264,3275 1683-5886,-295-5 5301,-1234-606 314,47-93 1899,-1943-1063-1258,506 272 2858,-396-194 1370,2 1-4624,70 18 478,-184-100-491,0-3-1,1-1 1,54 11 0,-55-21-6455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20:21:57.9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7506 0 24575,'-4'9'0,"0"0"0,-1-1 0,0 0 0,0 0 0,-1 0 0,0-1 0,0 0 0,-9 8 0,-6 7 0,-539 560 0,330-350 0,14-12-476,-1897 1887-46,1849-1854 575,-628 574-216,646-620 86,-478 308 0,292-285 582,-13-33 292,407-181-837,-851 335 40,849-338 0,0 1 0,2 3 0,-55 31 0,78-37 30,0 2 0,0-1 0,-14 18 0,16-16-401,-1-1-1,0 0 1,-19 13 0,12-14-6455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830C07-A731-44D4-AED6-F9447062488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D714CF-7298-4A3D-B28D-3CB86A6F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617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D714CF-7298-4A3D-B28D-3CB86A6FA67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762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D714CF-7298-4A3D-B28D-3CB86A6FA67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695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D714CF-7298-4A3D-B28D-3CB86A6FA67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5644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</a:tabLs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eaLnBrk="0">
              <a:tabLst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</a:tabLs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eaLnBrk="0">
              <a:tabLst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</a:tabLs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eaLnBrk="0">
              <a:tabLst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</a:tabLs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eaLnBrk="0">
              <a:tabLst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</a:tabLs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299602" indent="-209055" defTabSz="418109" eaLnBrk="0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</a:tabLs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717711" indent="-209055" defTabSz="418109" eaLnBrk="0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</a:tabLs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135821" indent="-209055" defTabSz="418109" eaLnBrk="0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</a:tabLs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553930" indent="-209055" defTabSz="418109" eaLnBrk="0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</a:tabLs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/>
            <a:fld id="{E9CBD2B7-6EF5-48A5-8E2E-A8946B05E4A5}" type="slidenum">
              <a:rPr lang="en-US" altLang="en-US" smtClean="0">
                <a:solidFill>
                  <a:srgbClr val="000000"/>
                </a:solidFill>
                <a:latin typeface="Times New Roman" pitchFamily="18" charset="0"/>
              </a:rPr>
              <a:pPr eaLnBrk="1"/>
              <a:t>28</a:t>
            </a:fld>
            <a:endParaRPr lang="en-US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420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E4C4E-7474-4238-A204-CBB0BBD851D3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864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B406C-8824-4C7F-9D30-71CFA49EC27E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129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A7A22-2EEC-44C7-AB58-BBBEA1B7804D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374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7AF5-D786-4CF2-89CE-B9BA2C85E681}" type="datetime1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53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56F5-5ED2-481B-A050-D39DF88BC415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35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7480E-787E-4442-86BC-03E407BA2B9E}" type="datetime1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639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88685-0B2E-455E-BA9D-6344642E249A}" type="datetime1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946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7D684-9903-4BB8-A7C9-29439BD17943}" type="datetime1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997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B4DDA-4D81-4999-B03B-F0043CC7EF7F}" type="datetime1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388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01F6-21A4-4978-90F1-A5360DB43448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782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2F5E-2276-4AE3-AB0C-01C58F9FC785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835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-156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2D101-8C86-4EAF-B3D2-BD9CE7403649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B704F-CD15-4A1B-8710-0658F5C745E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947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3333CC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-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hyperlink" Target="https://fsb.gsfc.nasa.gov/CFS/" TargetMode="External"/><Relationship Id="rId7" Type="http://schemas.openxmlformats.org/officeDocument/2006/relationships/customXml" Target="../ink/ink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customXml" Target="../ink/ink3.xml"/><Relationship Id="rId4" Type="http://schemas.openxmlformats.org/officeDocument/2006/relationships/hyperlink" Target="https://sourceforge.net/projects/cfs-ut-asser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6959" y="1879641"/>
            <a:ext cx="7772400" cy="1143000"/>
          </a:xfrm>
        </p:spPr>
        <p:txBody>
          <a:bodyPr/>
          <a:lstStyle/>
          <a:p>
            <a:pPr algn="ctr"/>
            <a:r>
              <a:rPr lang="en-US" sz="3600" b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UT-Assert Training</a:t>
            </a:r>
            <a:endParaRPr lang="en-US" sz="3600" b="1" dirty="0">
              <a:solidFill>
                <a:srgbClr val="33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02759" y="4220349"/>
            <a:ext cx="6400800" cy="2136002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Charles Zogby</a:t>
            </a:r>
          </a:p>
          <a:p>
            <a:r>
              <a:rPr lang="en-US" sz="1400" b="1" u="sng" dirty="0">
                <a:solidFill>
                  <a:srgbClr val="CCCC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charles.a.zogby@nasa.gov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301-286-8541</a:t>
            </a:r>
          </a:p>
          <a:p>
            <a:endParaRPr lang="en-US" sz="1400" b="1" dirty="0"/>
          </a:p>
          <a:p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9/2025 Modified by L. Prokop for </a:t>
            </a:r>
            <a:r>
              <a:rPr 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Microair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Avionics and accompanying demonstration software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153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6959" y="244305"/>
            <a:ext cx="7772400" cy="502806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2</a:t>
            </a:fld>
            <a:endParaRPr lang="en-US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616959" y="1070811"/>
            <a:ext cx="5115626" cy="5883441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1.) UT-Assert Overview</a:t>
            </a:r>
          </a:p>
          <a:p>
            <a:pPr algn="l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2.) What’s Included in the UT-Assert Library</a:t>
            </a:r>
          </a:p>
          <a:p>
            <a:pPr algn="l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3.) Test Structure</a:t>
            </a:r>
          </a:p>
          <a:p>
            <a:pPr algn="l"/>
            <a:r>
              <a:rPr lang="en-US" sz="2000" b="1" dirty="0"/>
              <a:t>	</a:t>
            </a:r>
            <a:r>
              <a:rPr lang="en-US" sz="2000" dirty="0"/>
              <a:t>a.) Flowchart</a:t>
            </a:r>
          </a:p>
          <a:p>
            <a:pPr algn="l"/>
            <a:r>
              <a:rPr lang="en-US" sz="2000" b="1" dirty="0"/>
              <a:t>	</a:t>
            </a:r>
            <a:r>
              <a:rPr lang="en-US" sz="2000" dirty="0"/>
              <a:t>b.) Required Test Files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c.) Test Runner</a:t>
            </a:r>
          </a:p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.)  Adding Test Cases</a:t>
            </a:r>
          </a:p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	ii.) Running Test Cases</a:t>
            </a:r>
          </a:p>
          <a:p>
            <a:pPr algn="l"/>
            <a:r>
              <a:rPr lang="en-US" sz="2000" dirty="0"/>
              <a:t>	d.) Setup / Teardown Functions</a:t>
            </a:r>
          </a:p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e.) Test Cases</a:t>
            </a:r>
          </a:p>
          <a:p>
            <a:pPr algn="l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4.) Writing Test Cases</a:t>
            </a:r>
          </a:p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a.) Structure</a:t>
            </a:r>
          </a:p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000" dirty="0"/>
              <a:t>b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.) Assert Statements</a:t>
            </a:r>
          </a:p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000" dirty="0"/>
              <a:t>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.) Stub Functions</a:t>
            </a:r>
          </a:p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000" dirty="0"/>
              <a:t>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.) Hook Functions</a:t>
            </a:r>
          </a:p>
          <a:p>
            <a:pPr algn="l"/>
            <a:r>
              <a:rPr lang="en-US" sz="2000" b="1" dirty="0"/>
              <a:t>5.) Makefile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b="1" dirty="0"/>
              <a:t>6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.) Test Suite Execution</a:t>
            </a:r>
          </a:p>
          <a:p>
            <a:pPr algn="l"/>
            <a:r>
              <a:rPr lang="en-US" sz="2000" b="1" dirty="0"/>
              <a:t>7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.) Test Output</a:t>
            </a:r>
          </a:p>
          <a:p>
            <a:pPr algn="l"/>
            <a:r>
              <a:rPr lang="en-US" sz="2000" b="1" dirty="0"/>
              <a:t>8.) Walkthrough: Example </a:t>
            </a:r>
            <a:r>
              <a:rPr lang="en-US" sz="2000" b="1" dirty="0" err="1"/>
              <a:t>cFS</a:t>
            </a:r>
            <a:r>
              <a:rPr lang="en-US" sz="2000" b="1" dirty="0"/>
              <a:t> Application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Test Suite</a:t>
            </a:r>
          </a:p>
          <a:p>
            <a:pPr algn="l"/>
            <a:r>
              <a:rPr lang="en-US" sz="2000" b="1" strike="sngStrike" dirty="0"/>
              <a:t>9.) Walkthrough: Actual </a:t>
            </a:r>
            <a:r>
              <a:rPr lang="en-US" sz="2000" b="1" strike="sngStrike" dirty="0" err="1"/>
              <a:t>cFS</a:t>
            </a:r>
            <a:r>
              <a:rPr lang="en-US" sz="2000" b="1" strike="sngStrike" dirty="0"/>
              <a:t> </a:t>
            </a:r>
            <a:r>
              <a:rPr lang="en-US" sz="2000" b="1" strike="sngStrike" dirty="0">
                <a:latin typeface="Arial" panose="020B0604020202020204" pitchFamily="34" charset="0"/>
                <a:cs typeface="Arial" panose="020B0604020202020204" pitchFamily="34" charset="0"/>
              </a:rPr>
              <a:t>Application Test Suite</a:t>
            </a:r>
          </a:p>
        </p:txBody>
      </p:sp>
    </p:spTree>
    <p:extLst>
      <p:ext uri="{BB962C8B-B14F-4D97-AF65-F5344CB8AC3E}">
        <p14:creationId xmlns:p14="http://schemas.microsoft.com/office/powerpoint/2010/main" val="3517750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UT-Assert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767" y="1339702"/>
            <a:ext cx="8860466" cy="5210870"/>
          </a:xfrm>
        </p:spPr>
        <p:txBody>
          <a:bodyPr>
            <a:normAutofit/>
          </a:bodyPr>
          <a:lstStyle/>
          <a:p>
            <a:pPr marL="285750" indent="-285750"/>
            <a:r>
              <a:rPr lang="en-US" sz="1600" dirty="0"/>
              <a:t>Used for unit code through the use of assert statements</a:t>
            </a:r>
          </a:p>
          <a:p>
            <a:pPr marL="742950" lvl="1" indent="-285750"/>
            <a:r>
              <a:rPr lang="en-US" sz="1400" dirty="0"/>
              <a:t>An assert statement evaluates whether a condition is true or false and returns PASS or FAIL.</a:t>
            </a:r>
          </a:p>
          <a:p>
            <a:pPr marL="742950" lvl="1" indent="-285750"/>
            <a:r>
              <a:rPr lang="en-US" sz="1400" dirty="0"/>
              <a:t>Each test case should be self-verifying, rather than needing to be manually verified after running</a:t>
            </a:r>
            <a:endParaRPr lang="en-US" sz="1600" dirty="0"/>
          </a:p>
          <a:p>
            <a:pPr marL="285750" indent="-285750"/>
            <a:r>
              <a:rPr lang="en-US" sz="1600" dirty="0"/>
              <a:t>Used to test </a:t>
            </a:r>
            <a:r>
              <a:rPr lang="en-US" sz="1600" b="1" dirty="0"/>
              <a:t>functionality and code coverage </a:t>
            </a:r>
            <a:r>
              <a:rPr lang="en-US" sz="1600" dirty="0"/>
              <a:t>of every function in an application, one at a time</a:t>
            </a:r>
          </a:p>
          <a:p>
            <a:pPr marL="742950" lvl="1" indent="-285750"/>
            <a:r>
              <a:rPr lang="en-US" sz="1400" dirty="0"/>
              <a:t>Each test should be completely independent from other tests</a:t>
            </a:r>
          </a:p>
          <a:p>
            <a:pPr marL="285750" indent="-285750"/>
            <a:r>
              <a:rPr lang="en-US" sz="1600" dirty="0"/>
              <a:t>Each test case should test ONLY its designated function/operation</a:t>
            </a:r>
            <a:endParaRPr lang="en-US" sz="1400" dirty="0"/>
          </a:p>
          <a:p>
            <a:pPr marL="742950" lvl="1" indent="-285750"/>
            <a:r>
              <a:rPr lang="en-US" sz="1400" dirty="0"/>
              <a:t>Results of sub-functions do not need to be tested within that function but rather, tested in separate test case for each sub-function</a:t>
            </a:r>
          </a:p>
          <a:p>
            <a:pPr marL="285750" indent="-285750"/>
            <a:r>
              <a:rPr lang="en-US" sz="1800" b="1" dirty="0">
                <a:solidFill>
                  <a:srgbClr val="FF0000"/>
                </a:solidFill>
              </a:rPr>
              <a:t>Stub</a:t>
            </a:r>
            <a:r>
              <a:rPr lang="en-US" sz="1800" dirty="0">
                <a:solidFill>
                  <a:srgbClr val="FF0000"/>
                </a:solidFill>
              </a:rPr>
              <a:t> functions can/should be created for each sub-function (function called within a function) if control over that function behavior is necessary to test the designated function </a:t>
            </a:r>
            <a:r>
              <a:rPr lang="en-US" sz="1800" i="1" dirty="0">
                <a:solidFill>
                  <a:srgbClr val="FF0000"/>
                </a:solidFill>
              </a:rPr>
              <a:t>(will demo this)</a:t>
            </a:r>
            <a:endParaRPr lang="en-US" sz="1600" i="1" dirty="0"/>
          </a:p>
          <a:p>
            <a:pPr marL="742950" lvl="1" indent="-285750"/>
            <a:r>
              <a:rPr lang="en-US" sz="1400" dirty="0">
                <a:solidFill>
                  <a:srgbClr val="FF0000"/>
                </a:solidFill>
              </a:rPr>
              <a:t>Tests can set individual stub functions to behave in 3 different ways:</a:t>
            </a:r>
          </a:p>
          <a:p>
            <a:pPr marL="914400" lvl="2" indent="0">
              <a:buNone/>
            </a:pPr>
            <a:r>
              <a:rPr lang="en-US" sz="1400" dirty="0">
                <a:solidFill>
                  <a:srgbClr val="FF0000"/>
                </a:solidFill>
              </a:rPr>
              <a:t>       1.) Return its default return value</a:t>
            </a:r>
          </a:p>
          <a:p>
            <a:pPr marL="914400" lvl="2" indent="0">
              <a:buNone/>
            </a:pPr>
            <a:r>
              <a:rPr lang="en-US" sz="1400" dirty="0">
                <a:solidFill>
                  <a:srgbClr val="FF0000"/>
                </a:solidFill>
              </a:rPr>
              <a:t>       2.) Return a specified custom value</a:t>
            </a:r>
          </a:p>
          <a:p>
            <a:pPr marL="914400" lvl="2" indent="0">
              <a:buNone/>
            </a:pPr>
            <a:r>
              <a:rPr lang="en-US" sz="1400" dirty="0">
                <a:solidFill>
                  <a:srgbClr val="FF0000"/>
                </a:solidFill>
              </a:rPr>
              <a:t>       3.) Execute a specified custom </a:t>
            </a:r>
            <a:r>
              <a:rPr lang="en-US" sz="1400" b="1" dirty="0">
                <a:solidFill>
                  <a:srgbClr val="FF0000"/>
                </a:solidFill>
              </a:rPr>
              <a:t>hook function </a:t>
            </a:r>
            <a:r>
              <a:rPr lang="en-US" sz="1400" dirty="0">
                <a:solidFill>
                  <a:srgbClr val="FF0000"/>
                </a:solidFill>
              </a:rPr>
              <a:t>to return the hook functions return value</a:t>
            </a:r>
          </a:p>
          <a:p>
            <a:pPr marL="285750" indent="-285750"/>
            <a:r>
              <a:rPr lang="en-US" sz="1800" b="1" dirty="0">
                <a:solidFill>
                  <a:srgbClr val="FF0000"/>
                </a:solidFill>
              </a:rPr>
              <a:t>Hook</a:t>
            </a:r>
            <a:r>
              <a:rPr lang="en-US" sz="1800" dirty="0">
                <a:solidFill>
                  <a:srgbClr val="FF0000"/>
                </a:solidFill>
              </a:rPr>
              <a:t> functions can be created in addition to default “stub” function behavior if even more customized behavior is needed to fully test the function under test (</a:t>
            </a:r>
            <a:r>
              <a:rPr lang="en-US" sz="1800" i="1" dirty="0">
                <a:solidFill>
                  <a:srgbClr val="FF0000"/>
                </a:solidFill>
              </a:rPr>
              <a:t>this also will be demonstrated)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6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057" y="-179775"/>
            <a:ext cx="7886700" cy="1325563"/>
          </a:xfrm>
        </p:spPr>
        <p:txBody>
          <a:bodyPr/>
          <a:lstStyle/>
          <a:p>
            <a:r>
              <a:rPr lang="en-US" dirty="0"/>
              <a:t>What’s Included in the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4055" y="3884762"/>
            <a:ext cx="8486119" cy="262786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/</a:t>
            </a:r>
            <a:r>
              <a:rPr lang="en-US" dirty="0" err="1"/>
              <a:t>src</a:t>
            </a:r>
            <a:r>
              <a:rPr lang="en-US" dirty="0"/>
              <a:t>: Contains the library source files</a:t>
            </a:r>
          </a:p>
          <a:p>
            <a:endParaRPr lang="en-US" dirty="0"/>
          </a:p>
          <a:p>
            <a:r>
              <a:rPr lang="en-US" dirty="0"/>
              <a:t>/</a:t>
            </a:r>
            <a:r>
              <a:rPr lang="en-US" dirty="0" err="1"/>
              <a:t>inc</a:t>
            </a:r>
            <a:r>
              <a:rPr lang="en-US" dirty="0"/>
              <a:t>: Contains the header files for the library source files</a:t>
            </a:r>
          </a:p>
          <a:p>
            <a:endParaRPr lang="en-US" dirty="0"/>
          </a:p>
          <a:p>
            <a:r>
              <a:rPr lang="en-US" dirty="0"/>
              <a:t>/doc: Contains documentation about UT-Assert</a:t>
            </a:r>
          </a:p>
          <a:p>
            <a:pPr lvl="1"/>
            <a:r>
              <a:rPr lang="en-US" dirty="0"/>
              <a:t>Note: current documentation is incomplete and outdated</a:t>
            </a:r>
          </a:p>
          <a:p>
            <a:pPr lvl="2"/>
            <a:r>
              <a:rPr lang="en-US" dirty="0"/>
              <a:t>Will be replaced by this presentation</a:t>
            </a:r>
          </a:p>
          <a:p>
            <a:pPr lvl="2"/>
            <a:endParaRPr lang="en-US" dirty="0"/>
          </a:p>
          <a:p>
            <a:r>
              <a:rPr lang="en-US" dirty="0"/>
              <a:t>/UT Example: Contains an example UT-Assert unit test suite (and the app it tests)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419" y="1098015"/>
            <a:ext cx="6410325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890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Included in the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770473"/>
            <a:ext cx="9144000" cy="1768439"/>
          </a:xfrm>
        </p:spPr>
        <p:txBody>
          <a:bodyPr>
            <a:normAutofit fontScale="62500" lnSpcReduction="20000"/>
          </a:bodyPr>
          <a:lstStyle/>
          <a:p>
            <a:pPr marL="285750" indent="-285750"/>
            <a:r>
              <a:rPr lang="en-US" sz="2300" dirty="0"/>
              <a:t>Contents:</a:t>
            </a:r>
          </a:p>
          <a:p>
            <a:pPr marL="742950" lvl="1" indent="-285750"/>
            <a:r>
              <a:rPr lang="en-US" dirty="0" err="1"/>
              <a:t>utassert.c</a:t>
            </a:r>
            <a:r>
              <a:rPr lang="en-US" dirty="0"/>
              <a:t> /.h – defines the standard assert function, along with a few related functions</a:t>
            </a:r>
          </a:p>
          <a:p>
            <a:pPr marL="742950" lvl="1" indent="-285750"/>
            <a:r>
              <a:rPr lang="en-US" dirty="0" err="1"/>
              <a:t>utlist.c</a:t>
            </a:r>
            <a:r>
              <a:rPr lang="en-US" dirty="0"/>
              <a:t> – defines functions to create linked lists, which are used elsewhere in the library</a:t>
            </a:r>
          </a:p>
          <a:p>
            <a:pPr marL="742950" lvl="1" indent="-285750"/>
            <a:r>
              <a:rPr lang="en-US" dirty="0" err="1"/>
              <a:t>uttest.c</a:t>
            </a:r>
            <a:r>
              <a:rPr lang="en-US" dirty="0"/>
              <a:t> – defines the functions used to add and run test cases</a:t>
            </a:r>
          </a:p>
          <a:p>
            <a:pPr marL="742950" lvl="1" indent="-285750"/>
            <a:r>
              <a:rPr lang="en-US" dirty="0" err="1"/>
              <a:t>uttools.c</a:t>
            </a:r>
            <a:r>
              <a:rPr lang="en-US" dirty="0"/>
              <a:t> – defines miscellaneous functions that are useful for unit testing</a:t>
            </a:r>
          </a:p>
          <a:p>
            <a:pPr marL="742950" lvl="1" indent="-285750"/>
            <a:r>
              <a:rPr lang="en-US" dirty="0">
                <a:solidFill>
                  <a:srgbClr val="FF0000"/>
                </a:solidFill>
              </a:rPr>
              <a:t>Removed all “</a:t>
            </a:r>
            <a:r>
              <a:rPr lang="en-US" dirty="0" err="1">
                <a:solidFill>
                  <a:srgbClr val="FF0000"/>
                </a:solidFill>
              </a:rPr>
              <a:t>cfe</a:t>
            </a:r>
            <a:r>
              <a:rPr lang="en-US" dirty="0">
                <a:solidFill>
                  <a:srgbClr val="FF0000"/>
                </a:solidFill>
              </a:rPr>
              <a:t>” for </a:t>
            </a:r>
            <a:r>
              <a:rPr lang="en-US" dirty="0" err="1">
                <a:solidFill>
                  <a:srgbClr val="FF0000"/>
                </a:solidFill>
              </a:rPr>
              <a:t>Microair</a:t>
            </a:r>
            <a:r>
              <a:rPr lang="en-US" dirty="0">
                <a:solidFill>
                  <a:srgbClr val="FF0000"/>
                </a:solidFill>
              </a:rPr>
              <a:t>, but rewrote one generic “</a:t>
            </a:r>
            <a:r>
              <a:rPr lang="en-US" dirty="0" err="1">
                <a:solidFill>
                  <a:srgbClr val="FF0000"/>
                </a:solidFill>
              </a:rPr>
              <a:t>ut_stubs.c</a:t>
            </a:r>
            <a:r>
              <a:rPr lang="en-US" dirty="0">
                <a:solidFill>
                  <a:srgbClr val="FF0000"/>
                </a:solidFill>
              </a:rPr>
              <a:t> and </a:t>
            </a:r>
            <a:r>
              <a:rPr lang="en-US" dirty="0" err="1">
                <a:solidFill>
                  <a:srgbClr val="FF0000"/>
                </a:solidFill>
              </a:rPr>
              <a:t>ut_hooks.c</a:t>
            </a:r>
            <a:r>
              <a:rPr lang="en-US" dirty="0">
                <a:solidFill>
                  <a:srgbClr val="FF0000"/>
                </a:solidFill>
              </a:rPr>
              <a:t>” for general purpose use</a:t>
            </a:r>
          </a:p>
          <a:p>
            <a:pPr marL="1200150" lvl="2" indent="-285750"/>
            <a:r>
              <a:rPr lang="en-US" dirty="0" err="1"/>
              <a:t>ut_cfe_stubs.c</a:t>
            </a:r>
            <a:r>
              <a:rPr lang="en-US" dirty="0"/>
              <a:t> – defines the stub functions for a particular </a:t>
            </a:r>
            <a:r>
              <a:rPr lang="en-US" dirty="0" err="1"/>
              <a:t>cFS</a:t>
            </a:r>
            <a:r>
              <a:rPr lang="en-US" dirty="0"/>
              <a:t> component, and supporting functions</a:t>
            </a:r>
          </a:p>
          <a:p>
            <a:pPr marL="1200150" lvl="2" indent="-285750"/>
            <a:r>
              <a:rPr lang="en-US" dirty="0" err="1"/>
              <a:t>ut_cfe_hooks.c</a:t>
            </a:r>
            <a:r>
              <a:rPr lang="en-US" dirty="0"/>
              <a:t> – defines the default hook functions for a particular </a:t>
            </a:r>
            <a:r>
              <a:rPr lang="en-US" dirty="0" err="1"/>
              <a:t>cFS</a:t>
            </a:r>
            <a:r>
              <a:rPr lang="en-US" dirty="0"/>
              <a:t> component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" y="1084008"/>
            <a:ext cx="8048625" cy="3590925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BCB853FC-6E6D-886C-9C48-A2AF262E5911}"/>
              </a:ext>
            </a:extLst>
          </p:cNvPr>
          <p:cNvGrpSpPr/>
          <p:nvPr/>
        </p:nvGrpSpPr>
        <p:grpSpPr>
          <a:xfrm>
            <a:off x="1128889" y="2280356"/>
            <a:ext cx="530578" cy="462844"/>
            <a:chOff x="1140178" y="2280356"/>
            <a:chExt cx="530578" cy="462844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81AD3A3-BB82-22D9-A530-3B5EDAB2CBF1}"/>
                </a:ext>
              </a:extLst>
            </p:cNvPr>
            <p:cNvCxnSpPr>
              <a:cxnSpLocks/>
            </p:cNvCxnSpPr>
            <p:nvPr/>
          </p:nvCxnSpPr>
          <p:spPr>
            <a:xfrm>
              <a:off x="1140178" y="2280356"/>
              <a:ext cx="530578" cy="462844"/>
            </a:xfrm>
            <a:prstGeom prst="line">
              <a:avLst/>
            </a:prstGeom>
            <a:ln w="317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665DF47-AD6E-4629-9BE6-D304423C13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0178" y="2280356"/>
              <a:ext cx="530578" cy="462844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B6BC457-9004-EFAF-3E5D-6422A2FB417D}"/>
              </a:ext>
            </a:extLst>
          </p:cNvPr>
          <p:cNvGrpSpPr/>
          <p:nvPr/>
        </p:nvGrpSpPr>
        <p:grpSpPr>
          <a:xfrm>
            <a:off x="2568222" y="2280356"/>
            <a:ext cx="530578" cy="462844"/>
            <a:chOff x="1140178" y="2280356"/>
            <a:chExt cx="530578" cy="462844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AD4087C-F4C5-503D-4D80-5BC5E14446A4}"/>
                </a:ext>
              </a:extLst>
            </p:cNvPr>
            <p:cNvCxnSpPr>
              <a:cxnSpLocks/>
            </p:cNvCxnSpPr>
            <p:nvPr/>
          </p:nvCxnSpPr>
          <p:spPr>
            <a:xfrm>
              <a:off x="1140178" y="2280356"/>
              <a:ext cx="530578" cy="462844"/>
            </a:xfrm>
            <a:prstGeom prst="line">
              <a:avLst/>
            </a:prstGeom>
            <a:ln w="317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4AF3E9A-D049-CF57-63C3-DF136A4AAD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0178" y="2280356"/>
              <a:ext cx="530578" cy="462844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EC941AA-40D2-D246-B7E8-107E6388887B}"/>
              </a:ext>
            </a:extLst>
          </p:cNvPr>
          <p:cNvGrpSpPr/>
          <p:nvPr/>
        </p:nvGrpSpPr>
        <p:grpSpPr>
          <a:xfrm>
            <a:off x="1140178" y="2280356"/>
            <a:ext cx="530578" cy="462844"/>
            <a:chOff x="1140178" y="2280356"/>
            <a:chExt cx="530578" cy="462844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33E2A68-44F3-4E65-B71F-A269A6863856}"/>
                </a:ext>
              </a:extLst>
            </p:cNvPr>
            <p:cNvCxnSpPr>
              <a:cxnSpLocks/>
            </p:cNvCxnSpPr>
            <p:nvPr/>
          </p:nvCxnSpPr>
          <p:spPr>
            <a:xfrm>
              <a:off x="1140178" y="2280356"/>
              <a:ext cx="530578" cy="462844"/>
            </a:xfrm>
            <a:prstGeom prst="line">
              <a:avLst/>
            </a:prstGeom>
            <a:ln w="317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F614003-61B8-74D0-477C-2E3E4CAEF0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0178" y="2280356"/>
              <a:ext cx="530578" cy="462844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5A722CC-18B3-5A60-3A55-67A81D8DC10F}"/>
              </a:ext>
            </a:extLst>
          </p:cNvPr>
          <p:cNvGrpSpPr/>
          <p:nvPr/>
        </p:nvGrpSpPr>
        <p:grpSpPr>
          <a:xfrm>
            <a:off x="3996266" y="2280356"/>
            <a:ext cx="530578" cy="462844"/>
            <a:chOff x="1140178" y="2280356"/>
            <a:chExt cx="530578" cy="46284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03CC205-CAF9-EDE9-1982-E80C0F33244D}"/>
                </a:ext>
              </a:extLst>
            </p:cNvPr>
            <p:cNvCxnSpPr>
              <a:cxnSpLocks/>
            </p:cNvCxnSpPr>
            <p:nvPr/>
          </p:nvCxnSpPr>
          <p:spPr>
            <a:xfrm>
              <a:off x="1140178" y="2280356"/>
              <a:ext cx="530578" cy="462844"/>
            </a:xfrm>
            <a:prstGeom prst="line">
              <a:avLst/>
            </a:prstGeom>
            <a:ln w="317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2624B79-BC52-9066-31CA-C5C4F5FB0D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0178" y="2280356"/>
              <a:ext cx="530578" cy="462844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54CF77B-0DB2-3F7A-4483-DD7C3F4F4399}"/>
              </a:ext>
            </a:extLst>
          </p:cNvPr>
          <p:cNvGrpSpPr/>
          <p:nvPr/>
        </p:nvGrpSpPr>
        <p:grpSpPr>
          <a:xfrm>
            <a:off x="5514624" y="2280356"/>
            <a:ext cx="530578" cy="462844"/>
            <a:chOff x="1140178" y="2280356"/>
            <a:chExt cx="530578" cy="462844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56F0925-4CA8-2190-338E-8B9FF3BE52D6}"/>
                </a:ext>
              </a:extLst>
            </p:cNvPr>
            <p:cNvCxnSpPr>
              <a:cxnSpLocks/>
            </p:cNvCxnSpPr>
            <p:nvPr/>
          </p:nvCxnSpPr>
          <p:spPr>
            <a:xfrm>
              <a:off x="1140178" y="2280356"/>
              <a:ext cx="530578" cy="462844"/>
            </a:xfrm>
            <a:prstGeom prst="line">
              <a:avLst/>
            </a:prstGeom>
            <a:ln w="317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F025C57-B42B-9718-583B-1F50AE72A4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0178" y="2280356"/>
              <a:ext cx="530578" cy="462844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6B78CAB-B4CA-B69B-CCF9-E34F2E929776}"/>
              </a:ext>
            </a:extLst>
          </p:cNvPr>
          <p:cNvGrpSpPr/>
          <p:nvPr/>
        </p:nvGrpSpPr>
        <p:grpSpPr>
          <a:xfrm>
            <a:off x="6956072" y="2292471"/>
            <a:ext cx="530578" cy="462844"/>
            <a:chOff x="1140178" y="2280356"/>
            <a:chExt cx="530578" cy="462844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F041379-54D0-C9B9-F670-5F4C9E13BA8E}"/>
                </a:ext>
              </a:extLst>
            </p:cNvPr>
            <p:cNvCxnSpPr>
              <a:cxnSpLocks/>
            </p:cNvCxnSpPr>
            <p:nvPr/>
          </p:nvCxnSpPr>
          <p:spPr>
            <a:xfrm>
              <a:off x="1140178" y="2280356"/>
              <a:ext cx="530578" cy="462844"/>
            </a:xfrm>
            <a:prstGeom prst="line">
              <a:avLst/>
            </a:prstGeom>
            <a:ln w="317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BDAB3A3-9C94-9C3B-CEC5-D1D1D53786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0178" y="2280356"/>
              <a:ext cx="530578" cy="462844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2830A27-49BC-A22D-1142-7C2BA6C6864A}"/>
              </a:ext>
            </a:extLst>
          </p:cNvPr>
          <p:cNvGrpSpPr/>
          <p:nvPr/>
        </p:nvGrpSpPr>
        <p:grpSpPr>
          <a:xfrm>
            <a:off x="1140178" y="3014800"/>
            <a:ext cx="530578" cy="462844"/>
            <a:chOff x="1140178" y="2280356"/>
            <a:chExt cx="530578" cy="462844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484BC13-86DC-381B-8708-80FCFE4205CE}"/>
                </a:ext>
              </a:extLst>
            </p:cNvPr>
            <p:cNvCxnSpPr>
              <a:cxnSpLocks/>
            </p:cNvCxnSpPr>
            <p:nvPr/>
          </p:nvCxnSpPr>
          <p:spPr>
            <a:xfrm>
              <a:off x="1140178" y="2280356"/>
              <a:ext cx="530578" cy="462844"/>
            </a:xfrm>
            <a:prstGeom prst="line">
              <a:avLst/>
            </a:prstGeom>
            <a:ln w="317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5A111D4-1800-8FC9-B5C5-8F4BB5D656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0178" y="2280356"/>
              <a:ext cx="530578" cy="462844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AA9C482-3C2C-FFF6-16B1-13A49E912858}"/>
              </a:ext>
            </a:extLst>
          </p:cNvPr>
          <p:cNvGrpSpPr/>
          <p:nvPr/>
        </p:nvGrpSpPr>
        <p:grpSpPr>
          <a:xfrm>
            <a:off x="2568222" y="3028245"/>
            <a:ext cx="530578" cy="462844"/>
            <a:chOff x="1140178" y="2280356"/>
            <a:chExt cx="530578" cy="462844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7595A97-7D28-E7B2-73BD-6B85D4E5C50C}"/>
                </a:ext>
              </a:extLst>
            </p:cNvPr>
            <p:cNvCxnSpPr>
              <a:cxnSpLocks/>
            </p:cNvCxnSpPr>
            <p:nvPr/>
          </p:nvCxnSpPr>
          <p:spPr>
            <a:xfrm>
              <a:off x="1140178" y="2280356"/>
              <a:ext cx="530578" cy="462844"/>
            </a:xfrm>
            <a:prstGeom prst="line">
              <a:avLst/>
            </a:prstGeom>
            <a:ln w="317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264E23F-CC40-371C-8D31-652B0F9A31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0178" y="2280356"/>
              <a:ext cx="530578" cy="462844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25766DF-D0BB-E017-4EB8-1B467FE082F7}"/>
              </a:ext>
            </a:extLst>
          </p:cNvPr>
          <p:cNvGrpSpPr/>
          <p:nvPr/>
        </p:nvGrpSpPr>
        <p:grpSpPr>
          <a:xfrm>
            <a:off x="3996266" y="2966156"/>
            <a:ext cx="530578" cy="462844"/>
            <a:chOff x="1140178" y="2280356"/>
            <a:chExt cx="530578" cy="462844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B822B3D-0245-6324-AC3A-F6A4C41BE611}"/>
                </a:ext>
              </a:extLst>
            </p:cNvPr>
            <p:cNvCxnSpPr>
              <a:cxnSpLocks/>
            </p:cNvCxnSpPr>
            <p:nvPr/>
          </p:nvCxnSpPr>
          <p:spPr>
            <a:xfrm>
              <a:off x="1140178" y="2280356"/>
              <a:ext cx="530578" cy="462844"/>
            </a:xfrm>
            <a:prstGeom prst="line">
              <a:avLst/>
            </a:prstGeom>
            <a:ln w="317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C75E3D5-B4A0-3F5F-DFA0-ECB7417EC0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0178" y="2280356"/>
              <a:ext cx="530578" cy="462844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B3A5AA2-5C1A-B6FD-1B78-77085EF4C4ED}"/>
              </a:ext>
            </a:extLst>
          </p:cNvPr>
          <p:cNvGrpSpPr/>
          <p:nvPr/>
        </p:nvGrpSpPr>
        <p:grpSpPr>
          <a:xfrm>
            <a:off x="5514624" y="3000849"/>
            <a:ext cx="530578" cy="462844"/>
            <a:chOff x="1140178" y="2280356"/>
            <a:chExt cx="530578" cy="462844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15EE77A-41A1-1A95-77C5-EDC245A77342}"/>
                </a:ext>
              </a:extLst>
            </p:cNvPr>
            <p:cNvCxnSpPr>
              <a:cxnSpLocks/>
            </p:cNvCxnSpPr>
            <p:nvPr/>
          </p:nvCxnSpPr>
          <p:spPr>
            <a:xfrm>
              <a:off x="1140178" y="2280356"/>
              <a:ext cx="530578" cy="462844"/>
            </a:xfrm>
            <a:prstGeom prst="line">
              <a:avLst/>
            </a:prstGeom>
            <a:ln w="317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F617FDC-BDD7-05F0-6B61-C97C4AA9DD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0178" y="2280356"/>
              <a:ext cx="530578" cy="462844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B38168E-3815-43D9-0469-39063E0112CF}"/>
              </a:ext>
            </a:extLst>
          </p:cNvPr>
          <p:cNvGrpSpPr/>
          <p:nvPr/>
        </p:nvGrpSpPr>
        <p:grpSpPr>
          <a:xfrm>
            <a:off x="6852354" y="3033890"/>
            <a:ext cx="530578" cy="462844"/>
            <a:chOff x="1140178" y="2280356"/>
            <a:chExt cx="530578" cy="462844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16BBC40-1D63-3FEE-0B74-6637D29C57B6}"/>
                </a:ext>
              </a:extLst>
            </p:cNvPr>
            <p:cNvCxnSpPr>
              <a:cxnSpLocks/>
            </p:cNvCxnSpPr>
            <p:nvPr/>
          </p:nvCxnSpPr>
          <p:spPr>
            <a:xfrm>
              <a:off x="1140178" y="2280356"/>
              <a:ext cx="530578" cy="462844"/>
            </a:xfrm>
            <a:prstGeom prst="line">
              <a:avLst/>
            </a:prstGeom>
            <a:ln w="317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102BB53-FE5E-7118-6A4D-777B342B00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0178" y="2280356"/>
              <a:ext cx="530578" cy="462844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6A29E3A-DA87-722F-EEB6-43EF1324C107}"/>
              </a:ext>
            </a:extLst>
          </p:cNvPr>
          <p:cNvGrpSpPr/>
          <p:nvPr/>
        </p:nvGrpSpPr>
        <p:grpSpPr>
          <a:xfrm>
            <a:off x="1021645" y="3883379"/>
            <a:ext cx="530578" cy="462844"/>
            <a:chOff x="1140178" y="2280356"/>
            <a:chExt cx="530578" cy="462844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C7A3EDE-E28D-B7AF-CDAD-35225407CA35}"/>
                </a:ext>
              </a:extLst>
            </p:cNvPr>
            <p:cNvCxnSpPr>
              <a:cxnSpLocks/>
            </p:cNvCxnSpPr>
            <p:nvPr/>
          </p:nvCxnSpPr>
          <p:spPr>
            <a:xfrm>
              <a:off x="1140178" y="2280356"/>
              <a:ext cx="530578" cy="462844"/>
            </a:xfrm>
            <a:prstGeom prst="line">
              <a:avLst/>
            </a:prstGeom>
            <a:ln w="317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830A048-7EFA-37C6-1D92-776A12DCF3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0178" y="2280356"/>
              <a:ext cx="530578" cy="462844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4B325B9-67D2-2456-2845-693B3E6D1DEA}"/>
              </a:ext>
            </a:extLst>
          </p:cNvPr>
          <p:cNvGrpSpPr/>
          <p:nvPr/>
        </p:nvGrpSpPr>
        <p:grpSpPr>
          <a:xfrm>
            <a:off x="2568222" y="3776134"/>
            <a:ext cx="530578" cy="462844"/>
            <a:chOff x="1140178" y="2280356"/>
            <a:chExt cx="530578" cy="462844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2648431-DCF2-4333-DE87-462FE0AC204A}"/>
                </a:ext>
              </a:extLst>
            </p:cNvPr>
            <p:cNvCxnSpPr>
              <a:cxnSpLocks/>
            </p:cNvCxnSpPr>
            <p:nvPr/>
          </p:nvCxnSpPr>
          <p:spPr>
            <a:xfrm>
              <a:off x="1140178" y="2280356"/>
              <a:ext cx="530578" cy="462844"/>
            </a:xfrm>
            <a:prstGeom prst="line">
              <a:avLst/>
            </a:prstGeom>
            <a:ln w="317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A7382BB-6E55-4465-887A-4E5F46D946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0178" y="2280356"/>
              <a:ext cx="530578" cy="462844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7B409F9-EA66-7349-20AB-4E6D98F5383F}"/>
              </a:ext>
            </a:extLst>
          </p:cNvPr>
          <p:cNvGrpSpPr/>
          <p:nvPr/>
        </p:nvGrpSpPr>
        <p:grpSpPr>
          <a:xfrm>
            <a:off x="4035690" y="3771316"/>
            <a:ext cx="530578" cy="462844"/>
            <a:chOff x="1140178" y="2280356"/>
            <a:chExt cx="530578" cy="462844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D53936E-C90F-077E-128B-4F85EB368934}"/>
                </a:ext>
              </a:extLst>
            </p:cNvPr>
            <p:cNvCxnSpPr>
              <a:cxnSpLocks/>
            </p:cNvCxnSpPr>
            <p:nvPr/>
          </p:nvCxnSpPr>
          <p:spPr>
            <a:xfrm>
              <a:off x="1140178" y="2280356"/>
              <a:ext cx="530578" cy="462844"/>
            </a:xfrm>
            <a:prstGeom prst="line">
              <a:avLst/>
            </a:prstGeom>
            <a:ln w="317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D5CB3B4A-461A-55B9-9F3F-A5D723ED35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0178" y="2280356"/>
              <a:ext cx="530578" cy="462844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574E23D-7E49-6891-9762-398C4FD8D8E6}"/>
              </a:ext>
            </a:extLst>
          </p:cNvPr>
          <p:cNvGrpSpPr/>
          <p:nvPr/>
        </p:nvGrpSpPr>
        <p:grpSpPr>
          <a:xfrm>
            <a:off x="5582267" y="3721342"/>
            <a:ext cx="530578" cy="462844"/>
            <a:chOff x="1140178" y="2280356"/>
            <a:chExt cx="530578" cy="462844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6FE530F-1FFA-23EC-62C3-8B7399EE2412}"/>
                </a:ext>
              </a:extLst>
            </p:cNvPr>
            <p:cNvCxnSpPr>
              <a:cxnSpLocks/>
            </p:cNvCxnSpPr>
            <p:nvPr/>
          </p:nvCxnSpPr>
          <p:spPr>
            <a:xfrm>
              <a:off x="1140178" y="2280356"/>
              <a:ext cx="530578" cy="462844"/>
            </a:xfrm>
            <a:prstGeom prst="line">
              <a:avLst/>
            </a:prstGeom>
            <a:ln w="317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D60F2B18-F35D-30B3-9B54-314DE707AE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0178" y="2280356"/>
              <a:ext cx="530578" cy="462844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2C38D4E0-DD36-3D73-15A4-44B4CBAEB009}"/>
              </a:ext>
            </a:extLst>
          </p:cNvPr>
          <p:cNvSpPr txBox="1"/>
          <p:nvPr/>
        </p:nvSpPr>
        <p:spPr>
          <a:xfrm>
            <a:off x="7040563" y="3844724"/>
            <a:ext cx="12116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ut_hooks.c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err="1">
                <a:solidFill>
                  <a:srgbClr val="FF0000"/>
                </a:solidFill>
              </a:rPr>
              <a:t>ut_stubs.c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784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1356" y="2222499"/>
            <a:ext cx="7772400" cy="980989"/>
          </a:xfrm>
        </p:spPr>
        <p:txBody>
          <a:bodyPr>
            <a:normAutofit/>
          </a:bodyPr>
          <a:lstStyle/>
          <a:p>
            <a:r>
              <a:rPr lang="en-US" sz="4800" dirty="0"/>
              <a:t>Test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018" y="3475426"/>
            <a:ext cx="3767932" cy="2507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385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Structure: Test Case Flowchart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7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887" y="1169437"/>
            <a:ext cx="3324225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478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Structure: Full Flowchart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538" y="1015633"/>
            <a:ext cx="7264923" cy="584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348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Structure: Required Test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45720" y="4324166"/>
            <a:ext cx="9189720" cy="2214747"/>
          </a:xfrm>
        </p:spPr>
        <p:txBody>
          <a:bodyPr>
            <a:normAutofit/>
          </a:bodyPr>
          <a:lstStyle/>
          <a:p>
            <a:pPr marL="285750" indent="-285750"/>
            <a:r>
              <a:rPr lang="en-US" sz="1600" dirty="0"/>
              <a:t>For the example application:</a:t>
            </a:r>
          </a:p>
          <a:p>
            <a:pPr marL="742950" lvl="1" indent="-285750"/>
            <a:r>
              <a:rPr lang="en-US" sz="1400" dirty="0"/>
              <a:t>&lt;source file name&gt;_</a:t>
            </a:r>
            <a:r>
              <a:rPr lang="en-US" sz="1400" dirty="0" err="1"/>
              <a:t>test.c</a:t>
            </a:r>
            <a:r>
              <a:rPr lang="en-US" sz="1400" dirty="0"/>
              <a:t> / .h: defines the unit test cases for all functions in a particular source file</a:t>
            </a:r>
          </a:p>
          <a:p>
            <a:pPr marL="742950" lvl="1" indent="-285750"/>
            <a:r>
              <a:rPr lang="en-US" sz="1400" dirty="0"/>
              <a:t>&lt;app name&gt;_</a:t>
            </a:r>
            <a:r>
              <a:rPr lang="en-US" sz="1400" dirty="0" err="1"/>
              <a:t>test_utils.c</a:t>
            </a:r>
            <a:r>
              <a:rPr lang="en-US" sz="1400" dirty="0"/>
              <a:t> / .h: defines miscellaneous test functions (Setup, Teardown, </a:t>
            </a:r>
            <a:r>
              <a:rPr lang="en-US" sz="1400" dirty="0" err="1"/>
              <a:t>etc</a:t>
            </a:r>
            <a:r>
              <a:rPr lang="en-US" sz="1400" dirty="0"/>
              <a:t>)</a:t>
            </a:r>
          </a:p>
          <a:p>
            <a:pPr marL="742950" lvl="1" indent="-285750"/>
            <a:r>
              <a:rPr lang="en-US" sz="1400" dirty="0"/>
              <a:t>&lt;app name&gt;_</a:t>
            </a:r>
            <a:r>
              <a:rPr lang="en-US" sz="1400" dirty="0" err="1"/>
              <a:t>testrunner.c</a:t>
            </a:r>
            <a:r>
              <a:rPr lang="en-US" sz="1400" dirty="0"/>
              <a:t>: defines the main function, which adds all test cases and runs them</a:t>
            </a:r>
          </a:p>
          <a:p>
            <a:pPr marL="742950" lvl="1" indent="-285750"/>
            <a:r>
              <a:rPr lang="en-US" sz="1400" dirty="0"/>
              <a:t>makefile: standard makefile functionality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9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123" y="1169437"/>
            <a:ext cx="6730781" cy="297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102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Structure: Test Runner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788" y="1223112"/>
            <a:ext cx="8276561" cy="5806337"/>
          </a:xfrm>
        </p:spPr>
        <p:txBody>
          <a:bodyPr/>
          <a:lstStyle/>
          <a:p>
            <a:pPr marL="342900" indent="-342900"/>
            <a:r>
              <a:rPr lang="en-US" sz="2000" dirty="0"/>
              <a:t>&lt;project&gt;_</a:t>
            </a:r>
            <a:r>
              <a:rPr lang="en-US" sz="2000" dirty="0" err="1"/>
              <a:t>testrunner.c</a:t>
            </a:r>
            <a:endParaRPr lang="en-US" sz="2000" dirty="0"/>
          </a:p>
          <a:p>
            <a:pPr marL="800100" lvl="1" indent="-342900"/>
            <a:r>
              <a:rPr lang="en-US" sz="1600" dirty="0"/>
              <a:t>Top-level function for running the entire test suite</a:t>
            </a:r>
          </a:p>
          <a:p>
            <a:pPr marL="1257300" lvl="2" indent="-342900"/>
            <a:r>
              <a:rPr lang="en-US" sz="1400" dirty="0"/>
              <a:t>Adds all test cases for each source file under test</a:t>
            </a:r>
          </a:p>
          <a:p>
            <a:pPr marL="1257300" lvl="2" indent="-342900"/>
            <a:r>
              <a:rPr lang="en-US" sz="1400" dirty="0"/>
              <a:t>Runs all test cases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412" y="2891390"/>
            <a:ext cx="4373454" cy="193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70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Structure: Test Runner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042437"/>
            <a:ext cx="9305778" cy="4402023"/>
          </a:xfrm>
        </p:spPr>
        <p:txBody>
          <a:bodyPr>
            <a:normAutofit fontScale="92500" lnSpcReduction="10000"/>
          </a:bodyPr>
          <a:lstStyle/>
          <a:p>
            <a:pPr marL="457200" lvl="1" indent="0">
              <a:buNone/>
            </a:pPr>
            <a:endParaRPr lang="en-US" sz="1200" dirty="0"/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Test runner adds all test cases for a particular file via </a:t>
            </a:r>
            <a:r>
              <a:rPr lang="en-US" sz="1600" dirty="0">
                <a:solidFill>
                  <a:srgbClr val="C00000"/>
                </a:solidFill>
              </a:rPr>
              <a:t>&lt;source file name&gt;_</a:t>
            </a:r>
            <a:r>
              <a:rPr lang="en-US" sz="1600" dirty="0" err="1">
                <a:solidFill>
                  <a:srgbClr val="C00000"/>
                </a:solidFill>
              </a:rPr>
              <a:t>Test_AddTestCases</a:t>
            </a:r>
            <a:endParaRPr lang="en-US" sz="1400" dirty="0">
              <a:solidFill>
                <a:srgbClr val="C00000"/>
              </a:solidFill>
            </a:endParaRPr>
          </a:p>
          <a:p>
            <a:pPr marL="800100" lvl="2" indent="-342900">
              <a:spcBef>
                <a:spcPts val="1000"/>
              </a:spcBef>
              <a:buFont typeface="Arial" panose="020B0604020202020204" pitchFamily="34" charset="0"/>
              <a:buChar char="-"/>
            </a:pPr>
            <a:r>
              <a:rPr lang="en-US" sz="1400" dirty="0"/>
              <a:t>Written by the user</a:t>
            </a:r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1257300" lvl="3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257300" lvl="3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 </a:t>
            </a:r>
            <a:r>
              <a:rPr lang="en-US" sz="1600" dirty="0">
                <a:solidFill>
                  <a:srgbClr val="C00000"/>
                </a:solidFill>
              </a:rPr>
              <a:t>&lt;source file name&gt;_</a:t>
            </a:r>
            <a:r>
              <a:rPr lang="en-US" sz="1600" dirty="0" err="1">
                <a:solidFill>
                  <a:srgbClr val="C00000"/>
                </a:solidFill>
              </a:rPr>
              <a:t>Test_AddTestCases</a:t>
            </a:r>
            <a:r>
              <a:rPr lang="en-US" sz="1600" dirty="0">
                <a:solidFill>
                  <a:srgbClr val="C00000"/>
                </a:solidFill>
              </a:rPr>
              <a:t> </a:t>
            </a:r>
            <a:r>
              <a:rPr lang="en-US" sz="1600" dirty="0"/>
              <a:t>adds each case via UT-Assert function </a:t>
            </a:r>
            <a:r>
              <a:rPr lang="en-US" sz="1600" dirty="0" err="1">
                <a:solidFill>
                  <a:srgbClr val="C00000"/>
                </a:solidFill>
              </a:rPr>
              <a:t>UtTest_Add</a:t>
            </a:r>
            <a:endParaRPr lang="en-US" sz="1600" dirty="0">
              <a:solidFill>
                <a:srgbClr val="C00000"/>
              </a:solidFill>
            </a:endParaRPr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/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11</a:t>
            </a:fld>
            <a:endParaRPr lang="en-US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19117" y="962943"/>
            <a:ext cx="7886700" cy="4685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3333CC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sz="2800" u="sng" dirty="0"/>
              <a:t>Adding Test Cases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5447635"/>
            <a:ext cx="7400925" cy="2476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99362"/>
            <a:ext cx="9119520" cy="1615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365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Structure: Test Runner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23112"/>
            <a:ext cx="8515349" cy="5806337"/>
          </a:xfrm>
        </p:spPr>
        <p:txBody>
          <a:bodyPr/>
          <a:lstStyle/>
          <a:p>
            <a:pPr marL="342900" indent="-342900"/>
            <a:r>
              <a:rPr lang="en-US" sz="1800" dirty="0"/>
              <a:t>After all test cases are added, </a:t>
            </a:r>
            <a:r>
              <a:rPr lang="en-US" sz="1800" dirty="0" err="1"/>
              <a:t>Ut</a:t>
            </a:r>
            <a:r>
              <a:rPr lang="en-US" sz="1800" dirty="0"/>
              <a:t>-Assert library function “</a:t>
            </a:r>
            <a:r>
              <a:rPr lang="en-US" sz="1800" dirty="0" err="1"/>
              <a:t>UtTest_Run</a:t>
            </a:r>
            <a:r>
              <a:rPr lang="en-US" sz="1800" dirty="0"/>
              <a:t>” is called</a:t>
            </a:r>
          </a:p>
          <a:p>
            <a:pPr marL="800100" lvl="1" indent="-342900"/>
            <a:r>
              <a:rPr lang="en-US" dirty="0"/>
              <a:t>Called only once, which executes all test cases</a:t>
            </a:r>
          </a:p>
          <a:p>
            <a:pPr marL="800100" lvl="1" indent="-342900"/>
            <a:r>
              <a:rPr lang="en-US" dirty="0"/>
              <a:t>For each of the previously-added test cases:</a:t>
            </a:r>
          </a:p>
          <a:p>
            <a:pPr marL="1257300" lvl="2" indent="-342900"/>
            <a:r>
              <a:rPr lang="en-US" dirty="0"/>
              <a:t>Prints “Running Test: &lt;test case name&gt;”</a:t>
            </a:r>
          </a:p>
          <a:p>
            <a:pPr marL="1257300" lvl="2" indent="-342900"/>
            <a:r>
              <a:rPr lang="en-US" dirty="0"/>
              <a:t>Calls specified Setup function</a:t>
            </a:r>
          </a:p>
          <a:p>
            <a:pPr marL="1257300" lvl="2" indent="-342900"/>
            <a:r>
              <a:rPr lang="en-US" dirty="0"/>
              <a:t>Calls test case function</a:t>
            </a:r>
          </a:p>
          <a:p>
            <a:pPr marL="1714500" lvl="3" indent="-342900"/>
            <a:r>
              <a:rPr lang="en-US" dirty="0"/>
              <a:t>Each assert in test case will print “PASS: &lt;assert label&gt;” or “FAIL: &lt;assert label&gt;”</a:t>
            </a:r>
          </a:p>
          <a:p>
            <a:pPr marL="1714500" lvl="3" indent="-342900"/>
            <a:r>
              <a:rPr lang="en-US" dirty="0"/>
              <a:t>If assert passes, increments count of passed asserts; else increments count of failed asserts</a:t>
            </a:r>
          </a:p>
          <a:p>
            <a:pPr marL="1257300" lvl="2" indent="-342900"/>
            <a:r>
              <a:rPr lang="en-US" dirty="0"/>
              <a:t>Increments count of tests executed</a:t>
            </a:r>
          </a:p>
          <a:p>
            <a:pPr marL="1257300" lvl="2" indent="-342900"/>
            <a:r>
              <a:rPr lang="en-US" dirty="0"/>
              <a:t>Calls specified Teardown function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800100" lvl="1" indent="-342900"/>
            <a:r>
              <a:rPr lang="en-US" dirty="0"/>
              <a:t>Prints “Tests Executed: &lt;count of executed tests&gt;”</a:t>
            </a:r>
          </a:p>
          <a:p>
            <a:pPr marL="800100" lvl="1" indent="-342900"/>
            <a:r>
              <a:rPr lang="en-US" dirty="0"/>
              <a:t>Prints “Assert Pass Count: &lt;count of passed asserts&gt;”</a:t>
            </a:r>
          </a:p>
          <a:p>
            <a:pPr marL="800100" lvl="1" indent="-342900"/>
            <a:r>
              <a:rPr lang="en-US" dirty="0"/>
              <a:t>Prints “Assert Fail Count: &lt;count of failed asserts&gt;”</a:t>
            </a:r>
          </a:p>
          <a:p>
            <a:pPr marL="342900" indent="-342900"/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700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Structure: Test Runner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23113"/>
            <a:ext cx="8515349" cy="2685947"/>
          </a:xfrm>
        </p:spPr>
        <p:txBody>
          <a:bodyPr>
            <a:normAutofit fontScale="62500" lnSpcReduction="20000"/>
          </a:bodyPr>
          <a:lstStyle/>
          <a:p>
            <a:pPr marL="342900" indent="-342900"/>
            <a:r>
              <a:rPr lang="en-US" dirty="0"/>
              <a:t>Setup Function:</a:t>
            </a:r>
          </a:p>
          <a:p>
            <a:pPr marL="800100" lvl="1" indent="-342900"/>
            <a:r>
              <a:rPr lang="en-US" dirty="0"/>
              <a:t>A single user-written initialization function automatically called before each test case is run</a:t>
            </a:r>
          </a:p>
          <a:p>
            <a:pPr marL="1257300" lvl="2" indent="-342900"/>
            <a:r>
              <a:rPr lang="en-US" dirty="0"/>
              <a:t>Initializes to default conditions before each test case</a:t>
            </a:r>
          </a:p>
          <a:p>
            <a:pPr marL="1257300" lvl="2" indent="-342900"/>
            <a:r>
              <a:rPr lang="en-US" dirty="0"/>
              <a:t>Same function called for every test case in the test suite</a:t>
            </a:r>
          </a:p>
          <a:p>
            <a:pPr marL="2628900" lvl="5" indent="-342900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/>
            <a:r>
              <a:rPr lang="en-US" dirty="0"/>
              <a:t>Teardown Function:</a:t>
            </a:r>
          </a:p>
          <a:p>
            <a:pPr marL="800100" lvl="1" indent="-342900"/>
            <a:r>
              <a:rPr lang="en-US" dirty="0"/>
              <a:t>Similar to the Setup Function, but called AFTER each test case</a:t>
            </a:r>
          </a:p>
          <a:p>
            <a:pPr marL="2628900" lvl="5" indent="-342900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/>
            <a:r>
              <a:rPr lang="en-US" dirty="0"/>
              <a:t>Both are defined in  ***_</a:t>
            </a:r>
            <a:r>
              <a:rPr lang="en-US" dirty="0" err="1"/>
              <a:t>test_utils.c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/>
            <a:r>
              <a:rPr lang="en-US" dirty="0"/>
              <a:t>Example setup function: </a:t>
            </a:r>
            <a:r>
              <a:rPr lang="en-US" dirty="0">
                <a:solidFill>
                  <a:srgbClr val="FF0000"/>
                </a:solidFill>
              </a:rPr>
              <a:t>(for </a:t>
            </a:r>
            <a:r>
              <a:rPr lang="en-US" dirty="0" err="1">
                <a:solidFill>
                  <a:srgbClr val="FF0000"/>
                </a:solidFill>
              </a:rPr>
              <a:t>Microair</a:t>
            </a:r>
            <a:r>
              <a:rPr lang="en-US" dirty="0">
                <a:solidFill>
                  <a:srgbClr val="FF0000"/>
                </a:solidFill>
              </a:rPr>
              <a:t>, this is likely only setting global variables, or other global conditions)</a:t>
            </a:r>
          </a:p>
          <a:p>
            <a:pPr marL="342900" indent="-342900"/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887" y="4102101"/>
            <a:ext cx="5610225" cy="25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784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Structure: Test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" y="1169437"/>
            <a:ext cx="9144000" cy="4338107"/>
          </a:xfrm>
        </p:spPr>
        <p:txBody>
          <a:bodyPr>
            <a:normAutofit lnSpcReduction="10000"/>
          </a:bodyPr>
          <a:lstStyle/>
          <a:p>
            <a:pPr marL="342900" indent="-342900"/>
            <a:r>
              <a:rPr lang="en-US" dirty="0"/>
              <a:t>Written by the user</a:t>
            </a:r>
          </a:p>
          <a:p>
            <a:pPr marL="342900" indent="-342900"/>
            <a:endParaRPr lang="en-US" dirty="0"/>
          </a:p>
          <a:p>
            <a:pPr marL="342900" indent="-342900"/>
            <a:r>
              <a:rPr lang="en-US" dirty="0"/>
              <a:t>Tests a single condition, branch of code, </a:t>
            </a:r>
            <a:r>
              <a:rPr lang="en-US" dirty="0" err="1"/>
              <a:t>etc</a:t>
            </a:r>
            <a:r>
              <a:rPr lang="en-US" dirty="0"/>
              <a:t>, using assert statements</a:t>
            </a:r>
          </a:p>
          <a:p>
            <a:pPr marL="342900" indent="-342900"/>
            <a:endParaRPr lang="en-US" dirty="0"/>
          </a:p>
          <a:p>
            <a:pPr marL="342900" indent="-342900"/>
            <a:r>
              <a:rPr lang="en-US" dirty="0">
                <a:highlight>
                  <a:srgbClr val="FFFF00"/>
                </a:highlight>
              </a:rPr>
              <a:t>Each test tests functionality (i.e. correct return value) </a:t>
            </a:r>
            <a:r>
              <a:rPr lang="en-US" dirty="0">
                <a:highlight>
                  <a:srgbClr val="00FF00"/>
                </a:highlight>
              </a:rPr>
              <a:t>and one code coverage path </a:t>
            </a:r>
            <a:r>
              <a:rPr lang="en-US" dirty="0">
                <a:highlight>
                  <a:srgbClr val="FFFF00"/>
                </a:highlight>
              </a:rPr>
              <a:t>of each function in an application, one at a time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/>
            <a:r>
              <a:rPr lang="en-US" dirty="0"/>
              <a:t>Only needs to test the designated section of code</a:t>
            </a:r>
          </a:p>
          <a:p>
            <a:pPr marL="800100" lvl="1" indent="-342900"/>
            <a:r>
              <a:rPr lang="en-US" dirty="0"/>
              <a:t>Sub-functions are tested in separate test cases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270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1356" y="2222499"/>
            <a:ext cx="7772400" cy="980989"/>
          </a:xfrm>
        </p:spPr>
        <p:txBody>
          <a:bodyPr>
            <a:normAutofit/>
          </a:bodyPr>
          <a:lstStyle/>
          <a:p>
            <a:r>
              <a:rPr lang="en-US" sz="4800" dirty="0"/>
              <a:t>Writing Test Cases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15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7643" y="3526190"/>
            <a:ext cx="3720307" cy="250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775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6959" y="244305"/>
            <a:ext cx="7772400" cy="502806"/>
          </a:xfrm>
        </p:spPr>
        <p:txBody>
          <a:bodyPr>
            <a:normAutofit/>
          </a:bodyPr>
          <a:lstStyle/>
          <a:p>
            <a:r>
              <a:rPr lang="en-US" sz="2800" dirty="0"/>
              <a:t>Writing Test Cases: Basic Structure</a:t>
            </a:r>
            <a:endParaRPr lang="en-US" sz="2800" b="1" dirty="0">
              <a:solidFill>
                <a:srgbClr val="33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16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" y="1219836"/>
            <a:ext cx="8124825" cy="5257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89858" y="1546413"/>
            <a:ext cx="6738471" cy="2043953"/>
          </a:xfrm>
          <a:prstGeom prst="rect">
            <a:avLst/>
          </a:prstGeom>
          <a:noFill/>
          <a:ln w="38100">
            <a:solidFill>
              <a:srgbClr val="33CC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9856" y="3641278"/>
            <a:ext cx="4649695" cy="5289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89856" y="4221108"/>
            <a:ext cx="7905453" cy="1936376"/>
          </a:xfrm>
          <a:prstGeom prst="rect">
            <a:avLst/>
          </a:prstGeom>
          <a:noFill/>
          <a:ln w="38100">
            <a:solidFill>
              <a:srgbClr val="00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122459" y="2383723"/>
            <a:ext cx="1479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3CC33"/>
                </a:solidFill>
                <a:latin typeface="Arial Black" panose="020B0A04020102020204" pitchFamily="34" charset="0"/>
              </a:rPr>
              <a:t>Set Up Test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7863" y="3721071"/>
            <a:ext cx="3904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Execute Function Under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5309" y="5004630"/>
            <a:ext cx="10190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CCFF"/>
                </a:solidFill>
                <a:latin typeface="Arial Black" panose="020B0A04020102020204" pitchFamily="34" charset="0"/>
              </a:rPr>
              <a:t>Verify Results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C778A2B-1139-A1B8-1466-E933BA68ED9F}"/>
              </a:ext>
            </a:extLst>
          </p:cNvPr>
          <p:cNvSpPr/>
          <p:nvPr/>
        </p:nvSpPr>
        <p:spPr>
          <a:xfrm>
            <a:off x="289856" y="3717890"/>
            <a:ext cx="4649695" cy="452305"/>
          </a:xfrm>
          <a:prstGeom prst="roundRect">
            <a:avLst/>
          </a:prstGeom>
          <a:solidFill>
            <a:srgbClr val="E2EE42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B0E3994-1D5E-6D12-8745-F0D0873BBBA2}"/>
              </a:ext>
            </a:extLst>
          </p:cNvPr>
          <p:cNvSpPr/>
          <p:nvPr/>
        </p:nvSpPr>
        <p:spPr>
          <a:xfrm>
            <a:off x="289856" y="5085434"/>
            <a:ext cx="7905452" cy="452305"/>
          </a:xfrm>
          <a:prstGeom prst="roundRect">
            <a:avLst/>
          </a:prstGeom>
          <a:solidFill>
            <a:srgbClr val="E2EE42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2812632-5033-2579-9142-53BE1748E8EA}"/>
              </a:ext>
            </a:extLst>
          </p:cNvPr>
          <p:cNvSpPr/>
          <p:nvPr/>
        </p:nvSpPr>
        <p:spPr>
          <a:xfrm>
            <a:off x="289856" y="1611437"/>
            <a:ext cx="6623410" cy="2029841"/>
          </a:xfrm>
          <a:prstGeom prst="roundRect">
            <a:avLst/>
          </a:prstGeom>
          <a:solidFill>
            <a:srgbClr val="E2EE42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703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2" grpId="0"/>
      <p:bldP spid="11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Writing Test Cases: Assert Statements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17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0" y="722692"/>
            <a:ext cx="9356652" cy="39712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sz="1600" dirty="0"/>
              <a:t>An assert statement evaluates whether a condition is true or false and returns PASS or FAIL.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For frequently-used groups of assert statements, it is recommended to write custom function</a:t>
            </a:r>
          </a:p>
          <a:p>
            <a:pPr lvl="1"/>
            <a:r>
              <a:rPr lang="en-US" sz="1400" dirty="0"/>
              <a:t>Any code changes would then only need to be changed in one place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Multiple types of assert are defined via macros</a:t>
            </a:r>
          </a:p>
          <a:p>
            <a:pPr lvl="1"/>
            <a:r>
              <a:rPr lang="en-US" sz="1600" dirty="0"/>
              <a:t>Only one assert type is necessary (</a:t>
            </a:r>
            <a:r>
              <a:rPr lang="en-US" sz="1600" dirty="0" err="1"/>
              <a:t>UtAssert_True</a:t>
            </a:r>
            <a:r>
              <a:rPr lang="en-US" sz="1600" dirty="0"/>
              <a:t>), but others can be useful</a:t>
            </a:r>
          </a:p>
          <a:p>
            <a:pPr lvl="1"/>
            <a:endParaRPr lang="en-US" sz="16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709115"/>
            <a:ext cx="7657242" cy="18676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619" y="4693920"/>
            <a:ext cx="7724775" cy="20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613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Writing Test Cases: Assert Statements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18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-1" y="1019324"/>
            <a:ext cx="9356652" cy="283422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Other assert types: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50" y="1302746"/>
            <a:ext cx="8383551" cy="555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090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Writing Test Cases: Stub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33232"/>
            <a:ext cx="9356652" cy="484859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Stub functions replace calls </a:t>
            </a:r>
            <a:r>
              <a:rPr lang="en-US" dirty="0">
                <a:solidFill>
                  <a:srgbClr val="FF0000"/>
                </a:solidFill>
              </a:rPr>
              <a:t>to “real” functions  </a:t>
            </a:r>
            <a:r>
              <a:rPr lang="en-US" strike="sngStrike" dirty="0"/>
              <a:t>corresponding </a:t>
            </a:r>
            <a:r>
              <a:rPr lang="en-US" strike="sngStrike" dirty="0" err="1"/>
              <a:t>cFS</a:t>
            </a:r>
            <a:r>
              <a:rPr lang="en-US" strike="sngStrike" dirty="0"/>
              <a:t> API library function</a:t>
            </a:r>
          </a:p>
          <a:p>
            <a:endParaRPr lang="en-US" dirty="0"/>
          </a:p>
          <a:p>
            <a:r>
              <a:rPr lang="en-US" dirty="0"/>
              <a:t>Stub Function Example </a:t>
            </a:r>
            <a:r>
              <a:rPr lang="en-US" i="1" dirty="0">
                <a:solidFill>
                  <a:srgbClr val="FF0000"/>
                </a:solidFill>
              </a:rPr>
              <a:t>(will be shown during demo):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Setup Example:</a:t>
            </a:r>
          </a:p>
          <a:p>
            <a:pPr lvl="1"/>
            <a:r>
              <a:rPr lang="en-US" dirty="0"/>
              <a:t>To set stub function to return a custom return value:</a:t>
            </a:r>
          </a:p>
          <a:p>
            <a:pPr lvl="2"/>
            <a:r>
              <a:rPr lang="en-US" dirty="0" err="1"/>
              <a:t>Ut_CFE_ES_SetReturnCode</a:t>
            </a:r>
            <a:r>
              <a:rPr lang="en-US" dirty="0"/>
              <a:t>(UT_CFE_ES_GETRESETTYPE_INDEX, Value, </a:t>
            </a:r>
            <a:r>
              <a:rPr lang="en-US" dirty="0" err="1"/>
              <a:t>CallCountToReturnOn</a:t>
            </a:r>
            <a:r>
              <a:rPr lang="en-US" dirty="0"/>
              <a:t>);</a:t>
            </a:r>
          </a:p>
          <a:p>
            <a:endParaRPr lang="en-US" dirty="0"/>
          </a:p>
          <a:p>
            <a:pPr lvl="1"/>
            <a:r>
              <a:rPr lang="en-US" dirty="0"/>
              <a:t>To set stub function to call a custom hook function:</a:t>
            </a:r>
          </a:p>
          <a:p>
            <a:pPr lvl="2"/>
            <a:r>
              <a:rPr lang="en-US" dirty="0" err="1"/>
              <a:t>Ut_CFE_ES_SetFunctionHook</a:t>
            </a:r>
            <a:r>
              <a:rPr lang="en-US" dirty="0"/>
              <a:t>(UT_CFE_ES_GETRESETTYPE_INDEX, &amp;</a:t>
            </a:r>
            <a:r>
              <a:rPr lang="en-US" dirty="0" err="1"/>
              <a:t>HookFunctionName</a:t>
            </a:r>
            <a:r>
              <a:rPr lang="en-US" dirty="0"/>
              <a:t>);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155" y="2281459"/>
            <a:ext cx="5886450" cy="195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0069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Test Cases: Hook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327" y="1326331"/>
            <a:ext cx="8816610" cy="379832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hook function can be written and set to be called by a stub function</a:t>
            </a:r>
          </a:p>
          <a:p>
            <a:pPr lvl="1"/>
            <a:r>
              <a:rPr lang="en-US" dirty="0"/>
              <a:t>Replaces a UT-Assert function’s code with alternate code for testing purposes</a:t>
            </a:r>
          </a:p>
          <a:p>
            <a:pPr lvl="2"/>
            <a:r>
              <a:rPr lang="en-US" dirty="0"/>
              <a:t>If no hook function, UT-Assert function only calls empty stub, which only returns a value</a:t>
            </a:r>
          </a:p>
          <a:p>
            <a:endParaRPr lang="en-US" dirty="0"/>
          </a:p>
          <a:p>
            <a:r>
              <a:rPr lang="en-US" dirty="0"/>
              <a:t>UT-Assert library includes default hook functions for some </a:t>
            </a:r>
            <a:r>
              <a:rPr lang="en-US" dirty="0" err="1"/>
              <a:t>cFS</a:t>
            </a:r>
            <a:r>
              <a:rPr lang="en-US" dirty="0"/>
              <a:t> API functions</a:t>
            </a:r>
          </a:p>
          <a:p>
            <a:pPr lvl="1"/>
            <a:r>
              <a:rPr lang="en-US" dirty="0"/>
              <a:t>Defined in files ending in “</a:t>
            </a:r>
            <a:r>
              <a:rPr lang="en-US" dirty="0" err="1"/>
              <a:t>hooks.h</a:t>
            </a:r>
            <a:r>
              <a:rPr lang="en-US" dirty="0"/>
              <a:t>” / “</a:t>
            </a:r>
            <a:r>
              <a:rPr lang="en-US" dirty="0" err="1"/>
              <a:t>hooks.c</a:t>
            </a:r>
            <a:r>
              <a:rPr lang="en-US" dirty="0"/>
              <a:t>”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General sample “</a:t>
            </a:r>
            <a:r>
              <a:rPr lang="en-US" dirty="0" err="1">
                <a:solidFill>
                  <a:srgbClr val="FF0000"/>
                </a:solidFill>
              </a:rPr>
              <a:t>ut_hooks.h</a:t>
            </a:r>
            <a:r>
              <a:rPr lang="en-US" dirty="0">
                <a:solidFill>
                  <a:srgbClr val="FF0000"/>
                </a:solidFill>
              </a:rPr>
              <a:t>” and “</a:t>
            </a:r>
            <a:r>
              <a:rPr lang="en-US" dirty="0" err="1">
                <a:solidFill>
                  <a:srgbClr val="FF0000"/>
                </a:solidFill>
              </a:rPr>
              <a:t>ut_hooks.c</a:t>
            </a:r>
            <a:r>
              <a:rPr lang="en-US" dirty="0">
                <a:solidFill>
                  <a:srgbClr val="FF0000"/>
                </a:solidFill>
              </a:rPr>
              <a:t>” files were created for general use for non-</a:t>
            </a:r>
            <a:r>
              <a:rPr lang="en-US" dirty="0" err="1">
                <a:solidFill>
                  <a:srgbClr val="FF0000"/>
                </a:solidFill>
              </a:rPr>
              <a:t>cFS</a:t>
            </a:r>
            <a:r>
              <a:rPr lang="en-US" dirty="0">
                <a:solidFill>
                  <a:srgbClr val="FF0000"/>
                </a:solidFill>
              </a:rPr>
              <a:t> applications for use with their own libraries and API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These will be demonstrated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1191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Makefile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(Updated, made and checked)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21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0" y="1326332"/>
            <a:ext cx="9461341" cy="340469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Quickest way to create new makefile:</a:t>
            </a:r>
          </a:p>
          <a:p>
            <a:pPr lvl="1"/>
            <a:r>
              <a:rPr lang="en-US" dirty="0"/>
              <a:t>1.) Copy from UT-Assert Example or another CFS App UT-Assert Unit Test</a:t>
            </a:r>
          </a:p>
          <a:p>
            <a:pPr lvl="1"/>
            <a:r>
              <a:rPr lang="en-US" dirty="0"/>
              <a:t>2.) Modify the makefile to be correct for new test suite</a:t>
            </a:r>
          </a:p>
          <a:p>
            <a:pPr lvl="1"/>
            <a:endParaRPr lang="en-US" dirty="0"/>
          </a:p>
          <a:p>
            <a:r>
              <a:rPr lang="en-US" dirty="0"/>
              <a:t>Contents of makefile:</a:t>
            </a:r>
          </a:p>
          <a:p>
            <a:pPr lvl="1"/>
            <a:r>
              <a:rPr lang="en-US" dirty="0"/>
              <a:t>Paths to source files</a:t>
            </a:r>
          </a:p>
          <a:p>
            <a:pPr lvl="1"/>
            <a:r>
              <a:rPr lang="en-US" dirty="0"/>
              <a:t>Object files to compile from source files</a:t>
            </a:r>
          </a:p>
          <a:p>
            <a:pPr lvl="1"/>
            <a:r>
              <a:rPr lang="en-US" dirty="0"/>
              <a:t>Name of test runner executable</a:t>
            </a:r>
          </a:p>
          <a:p>
            <a:pPr lvl="1"/>
            <a:r>
              <a:rPr lang="en-US" dirty="0"/>
              <a:t>Compiler and linker options</a:t>
            </a:r>
          </a:p>
          <a:p>
            <a:pPr lvl="1"/>
            <a:r>
              <a:rPr lang="en-US" dirty="0"/>
              <a:t>Rules to make targets (all, run, </a:t>
            </a:r>
            <a:r>
              <a:rPr lang="en-US" dirty="0" err="1"/>
              <a:t>gcov</a:t>
            </a:r>
            <a:r>
              <a:rPr lang="en-US" dirty="0"/>
              <a:t>, clean)</a:t>
            </a:r>
          </a:p>
          <a:p>
            <a:pPr lvl="2"/>
            <a:r>
              <a:rPr lang="en-US" dirty="0"/>
              <a:t>Note: there may be issues running </a:t>
            </a:r>
            <a:r>
              <a:rPr lang="en-US" dirty="0" err="1"/>
              <a:t>gcov</a:t>
            </a:r>
            <a:r>
              <a:rPr lang="en-US" dirty="0"/>
              <a:t> built code in a debugger</a:t>
            </a:r>
          </a:p>
          <a:p>
            <a:pPr lvl="1"/>
            <a:r>
              <a:rPr lang="en-US" dirty="0"/>
              <a:t>C compiler rule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130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 Suite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441" y="1359350"/>
            <a:ext cx="7886700" cy="445864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1.) Open a terminal window in the </a:t>
            </a:r>
            <a:r>
              <a:rPr lang="en-US" dirty="0" err="1"/>
              <a:t>unit_test</a:t>
            </a:r>
            <a:r>
              <a:rPr lang="en-US" dirty="0"/>
              <a:t> directory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2.) “make clean”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3.) “make” (runs default “make all”)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4.) “make run” (or ./&lt;test suite executable name&gt;)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- This will show the unit test results, “Pass” or “Fail” for each test </a:t>
            </a:r>
            <a:r>
              <a:rPr lang="en-US" i="1" dirty="0">
                <a:solidFill>
                  <a:srgbClr val="FF0000"/>
                </a:solidFill>
              </a:rPr>
              <a:t>(will demo)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5.) “make </a:t>
            </a:r>
            <a:r>
              <a:rPr lang="en-US" dirty="0" err="1"/>
              <a:t>gcov</a:t>
            </a:r>
            <a:r>
              <a:rPr lang="en-US" dirty="0"/>
              <a:t>” (optional – gets </a:t>
            </a:r>
            <a:r>
              <a:rPr lang="en-US" dirty="0" err="1"/>
              <a:t>gcov</a:t>
            </a:r>
            <a:r>
              <a:rPr lang="en-US" dirty="0"/>
              <a:t> code coverage results)</a:t>
            </a:r>
          </a:p>
          <a:p>
            <a:pPr marL="0" indent="0">
              <a:buNone/>
            </a:pPr>
            <a:r>
              <a:rPr lang="en-US" sz="2100" dirty="0">
                <a:solidFill>
                  <a:srgbClr val="FF0000"/>
                </a:solidFill>
              </a:rPr>
              <a:t>- This will show the results of </a:t>
            </a:r>
            <a:r>
              <a:rPr lang="en-US" sz="2100" dirty="0" err="1">
                <a:solidFill>
                  <a:srgbClr val="FF0000"/>
                </a:solidFill>
              </a:rPr>
              <a:t>gcov</a:t>
            </a:r>
            <a:r>
              <a:rPr lang="en-US" sz="2100" dirty="0">
                <a:solidFill>
                  <a:srgbClr val="FF0000"/>
                </a:solidFill>
              </a:rPr>
              <a:t> and MC/DC coverage (will demo)</a:t>
            </a:r>
          </a:p>
          <a:p>
            <a:pPr lvl="1"/>
            <a:r>
              <a:rPr lang="en-US" sz="2100" dirty="0">
                <a:solidFill>
                  <a:srgbClr val="FF0000"/>
                </a:solidFill>
              </a:rPr>
              <a:t>Search for “</a:t>
            </a:r>
            <a:r>
              <a:rPr lang="en-US" sz="2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 covered</a:t>
            </a:r>
            <a:r>
              <a:rPr lang="en-US" sz="2100" dirty="0">
                <a:solidFill>
                  <a:srgbClr val="FF0000"/>
                </a:solidFill>
              </a:rPr>
              <a:t>” in .</a:t>
            </a:r>
            <a:r>
              <a:rPr lang="en-US" sz="2100" dirty="0" err="1">
                <a:solidFill>
                  <a:srgbClr val="FF0000"/>
                </a:solidFill>
              </a:rPr>
              <a:t>gcov</a:t>
            </a:r>
            <a:r>
              <a:rPr lang="en-US" sz="2100" dirty="0">
                <a:solidFill>
                  <a:srgbClr val="FF0000"/>
                </a:solidFill>
              </a:rPr>
              <a:t> file, will tell you which outcomes are not MC/DC tested </a:t>
            </a:r>
          </a:p>
          <a:p>
            <a:pPr lvl="1"/>
            <a:r>
              <a:rPr lang="en-US" sz="2100" dirty="0">
                <a:solidFill>
                  <a:srgbClr val="FF0000"/>
                </a:solidFill>
              </a:rPr>
              <a:t>Goal: “</a:t>
            </a:r>
            <a:r>
              <a:rPr lang="en-US" sz="2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Condition outcomes covered:100.00%</a:t>
            </a:r>
            <a:r>
              <a:rPr lang="en-US" sz="2100" b="1" dirty="0">
                <a:solidFill>
                  <a:srgbClr val="FF0000"/>
                </a:solidFill>
                <a:cs typeface="Courier New" panose="02070309020205020404" pitchFamily="49" charset="0"/>
              </a:rPr>
              <a:t>”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22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28650" y="6000556"/>
            <a:ext cx="7886700" cy="538356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Note: these assume makefile is properly set up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5442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385" y="1070344"/>
            <a:ext cx="8676167" cy="5787656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Test results and </a:t>
            </a:r>
            <a:r>
              <a:rPr lang="en-US" dirty="0" err="1"/>
              <a:t>gcov</a:t>
            </a:r>
            <a:r>
              <a:rPr lang="en-US" dirty="0"/>
              <a:t> coverage results are displayed in terminal window</a:t>
            </a:r>
          </a:p>
          <a:p>
            <a:pPr lvl="1"/>
            <a:r>
              <a:rPr lang="en-US" dirty="0"/>
              <a:t>User should manually copy to output log: &lt;</a:t>
            </a:r>
            <a:r>
              <a:rPr lang="en-US" dirty="0" err="1"/>
              <a:t>projectname</a:t>
            </a:r>
            <a:r>
              <a:rPr lang="en-US" dirty="0"/>
              <a:t>&gt;_test_log.txt</a:t>
            </a:r>
          </a:p>
          <a:p>
            <a:r>
              <a:rPr lang="en-US" dirty="0"/>
              <a:t>Line-by-line code coverage detailed in .</a:t>
            </a:r>
            <a:r>
              <a:rPr lang="en-US" dirty="0" err="1"/>
              <a:t>gcov</a:t>
            </a:r>
            <a:r>
              <a:rPr lang="en-US" dirty="0"/>
              <a:t> files generated when </a:t>
            </a:r>
            <a:r>
              <a:rPr lang="en-US" dirty="0" err="1"/>
              <a:t>gcov</a:t>
            </a:r>
            <a:r>
              <a:rPr lang="en-US" dirty="0"/>
              <a:t> is run</a:t>
            </a:r>
          </a:p>
          <a:p>
            <a:endParaRPr lang="en-US" dirty="0"/>
          </a:p>
          <a:p>
            <a:r>
              <a:rPr lang="en-US" dirty="0"/>
              <a:t>It is recommended that a README file be written, using a previous test README file as an guideline</a:t>
            </a:r>
          </a:p>
          <a:p>
            <a:endParaRPr lang="en-US" dirty="0"/>
          </a:p>
          <a:p>
            <a:r>
              <a:rPr lang="en-US" dirty="0"/>
              <a:t>Output example:</a:t>
            </a:r>
          </a:p>
          <a:p>
            <a:endParaRPr lang="en-US" dirty="0"/>
          </a:p>
          <a:p>
            <a:pPr marL="457200" lvl="1" indent="0">
              <a:buNone/>
            </a:pPr>
            <a:r>
              <a:rPr lang="en-US" dirty="0"/>
              <a:t>Running Test: </a:t>
            </a:r>
            <a:r>
              <a:rPr lang="en-US" dirty="0" err="1"/>
              <a:t>FM_InvokeChildTask_Test_WriteIndexEqualsQueueDepth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PASS: </a:t>
            </a:r>
            <a:r>
              <a:rPr lang="en-US" dirty="0" err="1"/>
              <a:t>FM_GlobalData.ChildWriteIndex</a:t>
            </a:r>
            <a:r>
              <a:rPr lang="en-US" dirty="0"/>
              <a:t> == 0</a:t>
            </a:r>
          </a:p>
          <a:p>
            <a:pPr marL="457200" lvl="1" indent="0">
              <a:buNone/>
            </a:pPr>
            <a:r>
              <a:rPr lang="en-US" dirty="0"/>
              <a:t>PASS: </a:t>
            </a:r>
            <a:r>
              <a:rPr lang="en-US" dirty="0" err="1"/>
              <a:t>FM_GlobalData.ChildQueueCount</a:t>
            </a:r>
            <a:r>
              <a:rPr lang="en-US" dirty="0"/>
              <a:t> == 1</a:t>
            </a:r>
          </a:p>
          <a:p>
            <a:pPr marL="457200" lvl="1" indent="0">
              <a:buNone/>
            </a:pPr>
            <a:r>
              <a:rPr lang="en-US" dirty="0"/>
              <a:t>PASS: </a:t>
            </a:r>
            <a:r>
              <a:rPr lang="en-US" dirty="0" err="1"/>
              <a:t>Ut_CFE_EVS_GetEventQueueDepth</a:t>
            </a:r>
            <a:r>
              <a:rPr lang="en-US" dirty="0"/>
              <a:t>() == 0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Running Test: </a:t>
            </a:r>
            <a:r>
              <a:rPr lang="en-US" dirty="0" err="1"/>
              <a:t>FM_AppendPathSep_Test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PASS: </a:t>
            </a:r>
            <a:r>
              <a:rPr lang="en-US" dirty="0" err="1"/>
              <a:t>strncmp</a:t>
            </a:r>
            <a:r>
              <a:rPr lang="en-US" dirty="0"/>
              <a:t>(Directory, 'directory/', OS_MAX_PATH_LEN) == 0</a:t>
            </a:r>
          </a:p>
          <a:p>
            <a:pPr marL="457200" lvl="1" indent="0">
              <a:buNone/>
            </a:pPr>
            <a:r>
              <a:rPr lang="en-US" dirty="0"/>
              <a:t>PASS: </a:t>
            </a:r>
            <a:r>
              <a:rPr lang="en-US" dirty="0" err="1"/>
              <a:t>Ut_CFE_EVS_GetEventQueueDepth</a:t>
            </a:r>
            <a:r>
              <a:rPr lang="en-US" dirty="0"/>
              <a:t>() == 0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Tests Executed:    178</a:t>
            </a:r>
          </a:p>
          <a:p>
            <a:pPr marL="457200" lvl="1" indent="0">
              <a:buNone/>
            </a:pPr>
            <a:r>
              <a:rPr lang="en-US" dirty="0"/>
              <a:t>Assert Pass Count: 679</a:t>
            </a:r>
          </a:p>
          <a:p>
            <a:pPr marL="457200" lvl="1" indent="0">
              <a:buNone/>
            </a:pPr>
            <a:r>
              <a:rPr lang="en-US" dirty="0"/>
              <a:t>Assert Fail Count: 0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&lt;&lt;&lt;&lt;&lt; Note below  is OLD </a:t>
            </a:r>
            <a:r>
              <a:rPr lang="en-US" dirty="0" err="1">
                <a:solidFill>
                  <a:srgbClr val="FF0000"/>
                </a:solidFill>
              </a:rPr>
              <a:t>gcov</a:t>
            </a:r>
            <a:r>
              <a:rPr lang="en-US" dirty="0">
                <a:solidFill>
                  <a:srgbClr val="FF0000"/>
                </a:solidFill>
              </a:rPr>
              <a:t> output, prior to MC/DC being added – demo will show new output, but it </a:t>
            </a:r>
            <a:r>
              <a:rPr lang="en-US" dirty="0" err="1">
                <a:solidFill>
                  <a:srgbClr val="FF0000"/>
                </a:solidFill>
              </a:rPr>
              <a:t>it</a:t>
            </a:r>
            <a:r>
              <a:rPr lang="en-US" dirty="0">
                <a:solidFill>
                  <a:srgbClr val="FF0000"/>
                </a:solidFill>
              </a:rPr>
              <a:t> similar&gt;&gt;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dirty="0" err="1"/>
              <a:t>gcov</a:t>
            </a:r>
            <a:r>
              <a:rPr lang="en-US" dirty="0"/>
              <a:t>: '../</a:t>
            </a:r>
            <a:r>
              <a:rPr lang="en-US" dirty="0" err="1"/>
              <a:t>src</a:t>
            </a:r>
            <a:r>
              <a:rPr lang="en-US" dirty="0"/>
              <a:t>/</a:t>
            </a:r>
            <a:r>
              <a:rPr lang="en-US" dirty="0" err="1"/>
              <a:t>fm_tbl.c</a:t>
            </a:r>
            <a:r>
              <a:rPr lang="en-US" dirty="0"/>
              <a:t>' 100.00%  52</a:t>
            </a:r>
          </a:p>
          <a:p>
            <a:pPr marL="457200" lvl="1" indent="0">
              <a:buNone/>
            </a:pPr>
            <a:r>
              <a:rPr lang="en-US" dirty="0" err="1"/>
              <a:t>gcov</a:t>
            </a:r>
            <a:r>
              <a:rPr lang="en-US" dirty="0"/>
              <a:t>: '../</a:t>
            </a:r>
            <a:r>
              <a:rPr lang="en-US" dirty="0" err="1"/>
              <a:t>src</a:t>
            </a:r>
            <a:r>
              <a:rPr lang="en-US" dirty="0"/>
              <a:t>/</a:t>
            </a:r>
            <a:r>
              <a:rPr lang="en-US" dirty="0" err="1"/>
              <a:t>fm_child.c</a:t>
            </a:r>
            <a:r>
              <a:rPr lang="en-US" dirty="0"/>
              <a:t>' 100.00%  481</a:t>
            </a:r>
          </a:p>
          <a:p>
            <a:pPr marL="457200" lvl="1" indent="0">
              <a:buNone/>
            </a:pPr>
            <a:r>
              <a:rPr lang="en-US" dirty="0" err="1"/>
              <a:t>gcov</a:t>
            </a:r>
            <a:r>
              <a:rPr lang="en-US" dirty="0"/>
              <a:t>: '../</a:t>
            </a:r>
            <a:r>
              <a:rPr lang="en-US" dirty="0" err="1"/>
              <a:t>src</a:t>
            </a:r>
            <a:r>
              <a:rPr lang="en-US" dirty="0"/>
              <a:t>/</a:t>
            </a:r>
            <a:r>
              <a:rPr lang="en-US" dirty="0" err="1"/>
              <a:t>fm_app.c</a:t>
            </a:r>
            <a:r>
              <a:rPr lang="en-US" dirty="0"/>
              <a:t>' 100.00%  120</a:t>
            </a:r>
          </a:p>
          <a:p>
            <a:pPr marL="457200" lvl="1" indent="0">
              <a:buNone/>
            </a:pPr>
            <a:r>
              <a:rPr lang="en-US" dirty="0" err="1"/>
              <a:t>gcov</a:t>
            </a:r>
            <a:r>
              <a:rPr lang="en-US" dirty="0"/>
              <a:t>: '../</a:t>
            </a:r>
            <a:r>
              <a:rPr lang="en-US" dirty="0" err="1"/>
              <a:t>src</a:t>
            </a:r>
            <a:r>
              <a:rPr lang="en-US" dirty="0"/>
              <a:t>/</a:t>
            </a:r>
            <a:r>
              <a:rPr lang="en-US" dirty="0" err="1"/>
              <a:t>fm_cmds.c</a:t>
            </a:r>
            <a:r>
              <a:rPr lang="en-US" dirty="0"/>
              <a:t>' 100.00%  285</a:t>
            </a:r>
          </a:p>
          <a:p>
            <a:pPr marL="457200" lvl="1" indent="0">
              <a:buNone/>
            </a:pPr>
            <a:r>
              <a:rPr lang="en-US" dirty="0" err="1"/>
              <a:t>gcov</a:t>
            </a:r>
            <a:r>
              <a:rPr lang="en-US" dirty="0"/>
              <a:t>: '../</a:t>
            </a:r>
            <a:r>
              <a:rPr lang="en-US" dirty="0" err="1"/>
              <a:t>src</a:t>
            </a:r>
            <a:r>
              <a:rPr lang="en-US" dirty="0"/>
              <a:t>/</a:t>
            </a:r>
            <a:r>
              <a:rPr lang="en-US" dirty="0" err="1"/>
              <a:t>fm_cmd_utils.c</a:t>
            </a:r>
            <a:r>
              <a:rPr lang="en-US" dirty="0"/>
              <a:t>' 100.00%  174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825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Additional Features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24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0" y="1326331"/>
            <a:ext cx="8646459" cy="455003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Preprocessor Macro Options</a:t>
            </a:r>
          </a:p>
          <a:p>
            <a:pPr lvl="1"/>
            <a:r>
              <a:rPr lang="en-US" dirty="0"/>
              <a:t>UT_VERBOSE (default = true)</a:t>
            </a:r>
          </a:p>
          <a:p>
            <a:pPr lvl="2"/>
            <a:r>
              <a:rPr lang="en-US" dirty="0"/>
              <a:t>Determines whether or not to print less-important messages to the terminal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UT_VERBOSE_TEST_NAME (default = false)</a:t>
            </a:r>
          </a:p>
          <a:p>
            <a:pPr lvl="2"/>
            <a:r>
              <a:rPr lang="en-US" dirty="0"/>
              <a:t>If UT_VERBOSE = false, determines whether or not to print test names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UT_STOP_ON_ASSERT_FAILURE (default = false)</a:t>
            </a:r>
          </a:p>
          <a:p>
            <a:pPr lvl="2"/>
            <a:r>
              <a:rPr lang="en-US" dirty="0"/>
              <a:t>Determines whether or not to stop execution of entire test suit if a single test case fails</a:t>
            </a:r>
          </a:p>
          <a:p>
            <a:endParaRPr lang="en-US" dirty="0"/>
          </a:p>
          <a:p>
            <a:r>
              <a:rPr lang="en-US" dirty="0" err="1"/>
              <a:t>UtPrintf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Like printf, but only prints if UT_VERBOSE = true</a:t>
            </a:r>
          </a:p>
          <a:p>
            <a:pPr lvl="1"/>
            <a:endParaRPr lang="en-US" dirty="0"/>
          </a:p>
          <a:p>
            <a:r>
              <a:rPr lang="en-US" dirty="0" err="1"/>
              <a:t>UtSprintf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Like </a:t>
            </a:r>
            <a:r>
              <a:rPr lang="en-US" dirty="0" err="1"/>
              <a:t>sprintf</a:t>
            </a:r>
            <a:r>
              <a:rPr lang="en-US" dirty="0"/>
              <a:t>, but returns the string instead of using pointer</a:t>
            </a:r>
          </a:p>
        </p:txBody>
      </p:sp>
    </p:spTree>
    <p:extLst>
      <p:ext uri="{BB962C8B-B14F-4D97-AF65-F5344CB8AC3E}">
        <p14:creationId xmlns:p14="http://schemas.microsoft.com/office/powerpoint/2010/main" val="42926401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529" y="-149037"/>
            <a:ext cx="7886700" cy="1325563"/>
          </a:xfrm>
        </p:spPr>
        <p:txBody>
          <a:bodyPr>
            <a:normAutofit/>
          </a:bodyPr>
          <a:lstStyle/>
          <a:p>
            <a:r>
              <a:rPr lang="en-US" sz="2400" dirty="0"/>
              <a:t>Walkthrough: Example File </a:t>
            </a:r>
            <a:r>
              <a:rPr lang="en-US" sz="2400" strike="sngStrike" dirty="0" err="1"/>
              <a:t>cFS</a:t>
            </a:r>
            <a:r>
              <a:rPr lang="en-US" sz="2400" strike="sngStrike" dirty="0"/>
              <a:t> Application </a:t>
            </a:r>
            <a:br>
              <a:rPr lang="en-US" sz="2400" strike="sngStrike" dirty="0"/>
            </a:br>
            <a:r>
              <a:rPr lang="en-US" sz="2400" dirty="0"/>
              <a:t>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488" y="1353815"/>
            <a:ext cx="78867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Source files to walk through:</a:t>
            </a:r>
          </a:p>
          <a:p>
            <a:pPr lvl="1"/>
            <a:r>
              <a:rPr lang="en-US"/>
              <a:t>File folder</a:t>
            </a:r>
            <a:endParaRPr lang="en-US" dirty="0"/>
          </a:p>
          <a:p>
            <a:pPr lvl="1"/>
            <a:r>
              <a:rPr lang="en-US" dirty="0"/>
              <a:t>example_file1.c</a:t>
            </a:r>
          </a:p>
          <a:p>
            <a:pPr lvl="1"/>
            <a:r>
              <a:rPr lang="en-US" dirty="0" err="1"/>
              <a:t>example_testrunner.c</a:t>
            </a:r>
            <a:endParaRPr lang="en-US" dirty="0"/>
          </a:p>
          <a:p>
            <a:pPr lvl="1"/>
            <a:r>
              <a:rPr lang="en-US" dirty="0" err="1"/>
              <a:t>example_test_utils.c</a:t>
            </a:r>
            <a:endParaRPr lang="en-US" dirty="0"/>
          </a:p>
          <a:p>
            <a:pPr lvl="1"/>
            <a:r>
              <a:rPr lang="en-US" dirty="0"/>
              <a:t>example_file1_test.c</a:t>
            </a:r>
          </a:p>
          <a:p>
            <a:pPr lvl="1"/>
            <a:r>
              <a:rPr lang="en-US" dirty="0"/>
              <a:t>.</a:t>
            </a:r>
            <a:r>
              <a:rPr lang="en-US" dirty="0" err="1"/>
              <a:t>gcov</a:t>
            </a:r>
            <a:r>
              <a:rPr lang="en-US" dirty="0"/>
              <a:t> output</a:t>
            </a:r>
          </a:p>
          <a:p>
            <a:pPr lvl="1"/>
            <a:r>
              <a:rPr lang="en-US" dirty="0" err="1"/>
              <a:t>ut_stubs.c</a:t>
            </a:r>
            <a:r>
              <a:rPr lang="en-US" dirty="0"/>
              <a:t> 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(shows default return “true” and specified return code)</a:t>
            </a:r>
          </a:p>
          <a:p>
            <a:pPr lvl="1"/>
            <a:r>
              <a:rPr lang="en-US" dirty="0" err="1"/>
              <a:t>ut_hooks.c</a:t>
            </a:r>
            <a:endParaRPr lang="en-US" dirty="0"/>
          </a:p>
          <a:p>
            <a:pPr lvl="2"/>
            <a:r>
              <a:rPr lang="en-US" dirty="0">
                <a:solidFill>
                  <a:srgbClr val="FF0000"/>
                </a:solidFill>
              </a:rPr>
              <a:t>Shows alternate function</a:t>
            </a:r>
          </a:p>
          <a:p>
            <a:pPr lvl="1"/>
            <a:r>
              <a:rPr lang="en-US" dirty="0" err="1"/>
              <a:t>Makefile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Bonus:</a:t>
            </a:r>
          </a:p>
          <a:p>
            <a:pPr lvl="1"/>
            <a:r>
              <a:rPr lang="en-US" dirty="0" err="1">
                <a:solidFill>
                  <a:srgbClr val="FF0000"/>
                </a:solidFill>
              </a:rPr>
              <a:t>Doc_format.h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8236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734" y="-163359"/>
            <a:ext cx="7886700" cy="132556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(not applicable to </a:t>
            </a:r>
            <a:r>
              <a:rPr lang="en-US" sz="2400" dirty="0" err="1">
                <a:solidFill>
                  <a:srgbClr val="FF0000"/>
                </a:solidFill>
              </a:rPr>
              <a:t>Microair</a:t>
            </a:r>
            <a:r>
              <a:rPr lang="en-US" sz="2400" dirty="0">
                <a:solidFill>
                  <a:srgbClr val="FF0000"/>
                </a:solidFill>
              </a:rPr>
              <a:t>)</a:t>
            </a:r>
            <a:br>
              <a:rPr lang="en-US" sz="2400" dirty="0"/>
            </a:br>
            <a:r>
              <a:rPr lang="en-US" sz="2400" dirty="0"/>
              <a:t>Walkthrough: Actual </a:t>
            </a:r>
            <a:r>
              <a:rPr lang="en-US" sz="2400" dirty="0" err="1"/>
              <a:t>cFS</a:t>
            </a:r>
            <a:r>
              <a:rPr lang="en-US" sz="2400" dirty="0"/>
              <a:t> Application Test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69437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Source files to walk through:</a:t>
            </a:r>
          </a:p>
          <a:p>
            <a:pPr lvl="1"/>
            <a:r>
              <a:rPr lang="en-US" dirty="0" err="1"/>
              <a:t>fm_testrunner.c</a:t>
            </a:r>
            <a:endParaRPr lang="en-US" dirty="0"/>
          </a:p>
          <a:p>
            <a:pPr lvl="1"/>
            <a:r>
              <a:rPr lang="en-US" dirty="0" err="1"/>
              <a:t>fm_test_utils.c</a:t>
            </a:r>
            <a:endParaRPr lang="en-US" dirty="0"/>
          </a:p>
          <a:p>
            <a:pPr lvl="1"/>
            <a:r>
              <a:rPr lang="en-US" dirty="0" err="1"/>
              <a:t>fm_app_test.c</a:t>
            </a:r>
            <a:endParaRPr lang="en-US" dirty="0"/>
          </a:p>
          <a:p>
            <a:pPr lvl="1"/>
            <a:r>
              <a:rPr lang="en-US" dirty="0" err="1"/>
              <a:t>fm_child_test.c</a:t>
            </a:r>
            <a:endParaRPr lang="en-US" dirty="0"/>
          </a:p>
          <a:p>
            <a:pPr lvl="1"/>
            <a:r>
              <a:rPr lang="en-US" dirty="0" err="1"/>
              <a:t>fm_cmds_test.c</a:t>
            </a:r>
            <a:endParaRPr lang="en-US" dirty="0"/>
          </a:p>
          <a:p>
            <a:pPr lvl="1"/>
            <a:r>
              <a:rPr lang="en-US" dirty="0" err="1"/>
              <a:t>fm_cmd_utils_test.c</a:t>
            </a:r>
            <a:endParaRPr lang="en-US" dirty="0"/>
          </a:p>
          <a:p>
            <a:endParaRPr lang="en-US" dirty="0"/>
          </a:p>
          <a:p>
            <a:r>
              <a:rPr lang="en-US" dirty="0"/>
              <a:t>Other files to walk through:</a:t>
            </a:r>
          </a:p>
          <a:p>
            <a:pPr lvl="1"/>
            <a:r>
              <a:rPr lang="en-US" dirty="0"/>
              <a:t>fm_test_log.txt</a:t>
            </a:r>
          </a:p>
          <a:p>
            <a:pPr lvl="1"/>
            <a:r>
              <a:rPr lang="en-US" dirty="0"/>
              <a:t>README.txt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26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B58297D-FE99-BE85-7131-6DC6DCCDEF7C}"/>
                  </a:ext>
                </a:extLst>
              </p14:cNvPr>
              <p14:cNvContentPartPr/>
              <p14:nvPr/>
            </p14:nvContentPartPr>
            <p14:xfrm>
              <a:off x="743463" y="1145655"/>
              <a:ext cx="7133760" cy="4727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B58297D-FE99-BE85-7131-6DC6DCCDEF7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7343" y="1139535"/>
                <a:ext cx="7146000" cy="473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288955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376589"/>
            <a:ext cx="9143999" cy="424043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For frequently-used groups of assert statements, it is recommended to write custom function</a:t>
            </a:r>
          </a:p>
          <a:p>
            <a:pPr lvl="1"/>
            <a:r>
              <a:rPr lang="en-US" sz="2400" dirty="0"/>
              <a:t>Any code changes would then only need to be changed in one place</a:t>
            </a:r>
          </a:p>
          <a:p>
            <a:pPr lvl="1"/>
            <a:endParaRPr lang="en-US" dirty="0"/>
          </a:p>
          <a:p>
            <a:r>
              <a:rPr lang="en-US" dirty="0"/>
              <a:t>Use existing UT-Assert projects as reference for new projects</a:t>
            </a:r>
          </a:p>
          <a:p>
            <a:pPr lvl="1"/>
            <a:endParaRPr lang="en-US" sz="1400" dirty="0"/>
          </a:p>
          <a:p>
            <a:r>
              <a:rPr lang="en-US" dirty="0"/>
              <a:t>If </a:t>
            </a:r>
            <a:r>
              <a:rPr lang="en-US" dirty="0" err="1"/>
              <a:t>gcov</a:t>
            </a:r>
            <a:r>
              <a:rPr lang="en-US" dirty="0"/>
              <a:t> causes problems when running in debugger:</a:t>
            </a:r>
          </a:p>
          <a:p>
            <a:pPr lvl="1"/>
            <a:r>
              <a:rPr lang="en-US" dirty="0"/>
              <a:t>Change makefile:</a:t>
            </a:r>
          </a:p>
          <a:p>
            <a:pPr lvl="2"/>
            <a:r>
              <a:rPr lang="en-US" dirty="0"/>
              <a:t>Replace lines for GCOV_COPT and GCOV_LOPT with:</a:t>
            </a:r>
          </a:p>
          <a:p>
            <a:pPr marL="1371600" lvl="3" indent="0">
              <a:buNone/>
            </a:pPr>
            <a:endParaRPr lang="en-US" dirty="0"/>
          </a:p>
          <a:p>
            <a:pPr marL="1371600" lvl="3" indent="0">
              <a:buNone/>
            </a:pPr>
            <a:r>
              <a:rPr lang="en-US" dirty="0"/>
              <a:t>ENABLE_GCOV = FALSE</a:t>
            </a:r>
            <a:endParaRPr lang="en-US" sz="2400" dirty="0"/>
          </a:p>
          <a:p>
            <a:pPr marL="1371600" lvl="3" indent="0">
              <a:buNone/>
            </a:pPr>
            <a:r>
              <a:rPr lang="en-US" dirty="0" err="1"/>
              <a:t>ifeq</a:t>
            </a:r>
            <a:r>
              <a:rPr lang="en-US" dirty="0"/>
              <a:t> ($(ENABLE_GCOV), TRUE)</a:t>
            </a:r>
            <a:endParaRPr lang="en-US" sz="2400" dirty="0"/>
          </a:p>
          <a:p>
            <a:pPr marL="1371600" lvl="3" indent="0">
              <a:buNone/>
            </a:pPr>
            <a:r>
              <a:rPr lang="en-US" dirty="0"/>
              <a:t>GCOV_COPT = -</a:t>
            </a:r>
            <a:r>
              <a:rPr lang="en-US" dirty="0" err="1"/>
              <a:t>fprofile</a:t>
            </a:r>
            <a:r>
              <a:rPr lang="en-US" dirty="0"/>
              <a:t>-arcs -</a:t>
            </a:r>
            <a:r>
              <a:rPr lang="en-US" dirty="0" err="1"/>
              <a:t>ftest</a:t>
            </a:r>
            <a:r>
              <a:rPr lang="en-US" dirty="0"/>
              <a:t>-coverage -</a:t>
            </a:r>
            <a:r>
              <a:rPr lang="en-US" dirty="0" err="1"/>
              <a:t>pg</a:t>
            </a:r>
            <a:r>
              <a:rPr lang="en-US" dirty="0"/>
              <a:t> -p</a:t>
            </a:r>
            <a:endParaRPr lang="en-US" sz="2400" dirty="0"/>
          </a:p>
          <a:p>
            <a:pPr marL="1371600" lvl="3" indent="0">
              <a:buNone/>
            </a:pPr>
            <a:r>
              <a:rPr lang="en-US" dirty="0"/>
              <a:t>GCOV_LOPT = -</a:t>
            </a:r>
            <a:r>
              <a:rPr lang="en-US" dirty="0" err="1"/>
              <a:t>pg</a:t>
            </a:r>
            <a:r>
              <a:rPr lang="en-US" dirty="0"/>
              <a:t> -p -</a:t>
            </a:r>
            <a:r>
              <a:rPr lang="en-US" dirty="0" err="1"/>
              <a:t>fprofile</a:t>
            </a:r>
            <a:r>
              <a:rPr lang="en-US" dirty="0"/>
              <a:t>-arcs -</a:t>
            </a:r>
            <a:r>
              <a:rPr lang="en-US" dirty="0" err="1"/>
              <a:t>ftest</a:t>
            </a:r>
            <a:r>
              <a:rPr lang="en-US" dirty="0"/>
              <a:t>-coverage -</a:t>
            </a:r>
            <a:r>
              <a:rPr lang="en-US" dirty="0" err="1"/>
              <a:t>lgcov</a:t>
            </a:r>
            <a:endParaRPr lang="en-US" sz="2400" dirty="0"/>
          </a:p>
          <a:p>
            <a:pPr marL="1371600" lvl="3" indent="0">
              <a:buNone/>
            </a:pPr>
            <a:r>
              <a:rPr lang="en-US" dirty="0" err="1"/>
              <a:t>endif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27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7FCAD6B-9D9D-E18E-41D3-B1ED072EDCFD}"/>
                  </a:ext>
                </a:extLst>
              </p14:cNvPr>
              <p14:cNvContentPartPr/>
              <p14:nvPr/>
            </p14:nvContentPartPr>
            <p14:xfrm>
              <a:off x="803943" y="3275775"/>
              <a:ext cx="4762800" cy="2071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7FCAD6B-9D9D-E18E-41D3-B1ED072EDCF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7823" y="3269655"/>
                <a:ext cx="4775040" cy="208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23821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8013" cy="55626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defRPr/>
            </a:pPr>
            <a:r>
              <a:rPr lang="en-US" dirty="0"/>
              <a:t>Integrity 2010 FSW_TOOLS repository</a:t>
            </a:r>
          </a:p>
          <a:p>
            <a:pPr marL="0" indent="0">
              <a:spcBef>
                <a:spcPts val="0"/>
              </a:spcBef>
              <a:buNone/>
              <a:defRPr/>
            </a:pPr>
            <a:endParaRPr lang="en-US" dirty="0"/>
          </a:p>
          <a:p>
            <a:pPr>
              <a:spcBef>
                <a:spcPts val="0"/>
              </a:spcBef>
              <a:defRPr/>
            </a:pPr>
            <a:r>
              <a:rPr lang="en-US" dirty="0"/>
              <a:t>Code 582 FSB Document Repository</a:t>
            </a:r>
          </a:p>
          <a:p>
            <a:pPr lvl="1">
              <a:spcBef>
                <a:spcPts val="0"/>
              </a:spcBef>
              <a:defRPr/>
            </a:pPr>
            <a:r>
              <a:rPr lang="en-US" dirty="0">
                <a:hlinkClick r:id="rId3"/>
              </a:rPr>
              <a:t>https://fsb.gsfc.nasa.gov/CFS/</a:t>
            </a:r>
            <a:endParaRPr lang="en-US" dirty="0"/>
          </a:p>
          <a:p>
            <a:pPr lvl="2">
              <a:spcBef>
                <a:spcPts val="0"/>
              </a:spcBef>
              <a:defRPr/>
            </a:pPr>
            <a:r>
              <a:rPr lang="en-US" dirty="0"/>
              <a:t>Under </a:t>
            </a:r>
            <a:r>
              <a:rPr lang="en-US" dirty="0" err="1"/>
              <a:t>Baselined</a:t>
            </a:r>
            <a:r>
              <a:rPr lang="en-US" dirty="0"/>
              <a:t> Documents / Releases</a:t>
            </a:r>
          </a:p>
          <a:p>
            <a:pPr marL="0" indent="0">
              <a:spcBef>
                <a:spcPts val="0"/>
              </a:spcBef>
              <a:buNone/>
              <a:defRPr/>
            </a:pPr>
            <a:endParaRPr lang="en-US" dirty="0"/>
          </a:p>
          <a:p>
            <a:pPr>
              <a:spcBef>
                <a:spcPts val="0"/>
              </a:spcBef>
              <a:defRPr/>
            </a:pPr>
            <a:r>
              <a:rPr lang="en-US" dirty="0" err="1"/>
              <a:t>cFS</a:t>
            </a:r>
            <a:r>
              <a:rPr lang="en-US" dirty="0"/>
              <a:t> NASA wide community </a:t>
            </a:r>
            <a:r>
              <a:rPr lang="en-US" dirty="0" err="1"/>
              <a:t>Babelfish</a:t>
            </a:r>
            <a:r>
              <a:rPr lang="en-US" dirty="0"/>
              <a:t> </a:t>
            </a:r>
            <a:r>
              <a:rPr lang="en-US" dirty="0" err="1"/>
              <a:t>git</a:t>
            </a:r>
            <a:r>
              <a:rPr lang="en-US" dirty="0"/>
              <a:t> repository</a:t>
            </a:r>
          </a:p>
          <a:p>
            <a:pPr>
              <a:spcBef>
                <a:spcPts val="0"/>
              </a:spcBef>
              <a:defRPr/>
            </a:pPr>
            <a:endParaRPr lang="en-US" dirty="0"/>
          </a:p>
          <a:p>
            <a:pPr>
              <a:spcBef>
                <a:spcPts val="0"/>
              </a:spcBef>
              <a:defRPr/>
            </a:pPr>
            <a:r>
              <a:rPr lang="en-US" dirty="0" err="1"/>
              <a:t>Sourceforge</a:t>
            </a:r>
            <a:endParaRPr lang="en-US" dirty="0"/>
          </a:p>
          <a:p>
            <a:pPr lvl="1"/>
            <a:r>
              <a:rPr lang="en-US" u="sng" dirty="0">
                <a:hlinkClick r:id="rId4"/>
              </a:rPr>
              <a:t>https://sourceforge.net/projects/cfs-ut-assert/</a:t>
            </a:r>
            <a:endParaRPr lang="en-US" u="sng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LEP: this is where I got the copy I am using for this demo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7897906" y="6275668"/>
            <a:ext cx="990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DDA82B3-7FAA-2247-A7F2-AD7BE64352FB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Get the UT-Assert Library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01E86A9-F507-D1EF-8D23-C3A608BD0396}"/>
              </a:ext>
            </a:extLst>
          </p:cNvPr>
          <p:cNvGrpSpPr/>
          <p:nvPr/>
        </p:nvGrpSpPr>
        <p:grpSpPr>
          <a:xfrm>
            <a:off x="1456983" y="1054935"/>
            <a:ext cx="4725720" cy="2570400"/>
            <a:chOff x="1456983" y="1054935"/>
            <a:chExt cx="4725720" cy="257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6CBE4E4-1C91-3EE3-6D0D-3347E22405A0}"/>
                    </a:ext>
                  </a:extLst>
                </p14:cNvPr>
                <p14:cNvContentPartPr/>
                <p14:nvPr/>
              </p14:nvContentPartPr>
              <p14:xfrm>
                <a:off x="1456983" y="1054935"/>
                <a:ext cx="4725720" cy="25704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6CBE4E4-1C91-3EE3-6D0D-3347E22405A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450863" y="1048815"/>
                  <a:ext cx="4737960" cy="258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95B6543-EAF9-585C-F466-EBA7097A4185}"/>
                    </a:ext>
                  </a:extLst>
                </p14:cNvPr>
                <p14:cNvContentPartPr/>
                <p14:nvPr/>
              </p14:nvContentPartPr>
              <p14:xfrm>
                <a:off x="2774223" y="1085175"/>
                <a:ext cx="2702520" cy="21870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95B6543-EAF9-585C-F466-EBA7097A418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768103" y="1079055"/>
                  <a:ext cx="2714760" cy="2199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52741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39695</TotalTime>
  <Words>2317</Words>
  <Application>Microsoft Office PowerPoint</Application>
  <PresentationFormat>On-screen Show (4:3)</PresentationFormat>
  <Paragraphs>338</Paragraphs>
  <Slides>28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Arial Black</vt:lpstr>
      <vt:lpstr>Calibri</vt:lpstr>
      <vt:lpstr>Courier New</vt:lpstr>
      <vt:lpstr>Times New Roman</vt:lpstr>
      <vt:lpstr>Wingdings</vt:lpstr>
      <vt:lpstr>Office Theme</vt:lpstr>
      <vt:lpstr>UT-Assert Training</vt:lpstr>
      <vt:lpstr>Agenda</vt:lpstr>
      <vt:lpstr>UT-Assert Overview</vt:lpstr>
      <vt:lpstr>What’s Included in the Library</vt:lpstr>
      <vt:lpstr>What’s Included in the Library</vt:lpstr>
      <vt:lpstr>Test Structure</vt:lpstr>
      <vt:lpstr>Test Structure: Test Case Flowchart</vt:lpstr>
      <vt:lpstr>Test Structure: Full Flowchart</vt:lpstr>
      <vt:lpstr>Test Structure: Required Test Files</vt:lpstr>
      <vt:lpstr>Test Structure: Test Runner</vt:lpstr>
      <vt:lpstr>Test Structure: Test Runner</vt:lpstr>
      <vt:lpstr>Test Structure: Test Runner</vt:lpstr>
      <vt:lpstr>Test Structure: Test Runner</vt:lpstr>
      <vt:lpstr>Test Structure: Test Cases</vt:lpstr>
      <vt:lpstr>Writing Test Cases</vt:lpstr>
      <vt:lpstr>Writing Test Cases: Basic Structure</vt:lpstr>
      <vt:lpstr>Writing Test Cases: Assert Statements</vt:lpstr>
      <vt:lpstr>Writing Test Cases: Assert Statements</vt:lpstr>
      <vt:lpstr>Writing Test Cases: Stub Functions</vt:lpstr>
      <vt:lpstr>Writing Test Cases: Hook Functions</vt:lpstr>
      <vt:lpstr>Makefile  (Updated, made and checked)</vt:lpstr>
      <vt:lpstr>Test Suite Execution</vt:lpstr>
      <vt:lpstr>Test Output</vt:lpstr>
      <vt:lpstr>Additional Features</vt:lpstr>
      <vt:lpstr>Walkthrough: Example File cFS Application  Test</vt:lpstr>
      <vt:lpstr>(not applicable to Microair) Walkthrough: Actual cFS Application Test Suite</vt:lpstr>
      <vt:lpstr>Useful Tips</vt:lpstr>
      <vt:lpstr>How to Get the UT-Assert Library</vt:lpstr>
    </vt:vector>
  </TitlesOfParts>
  <Company>HPES ACES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UT-Assert Training</dc:title>
  <dc:creator>Zogby, Charles A. (GSFC-5820)</dc:creator>
  <cp:lastModifiedBy>Lore Prokop</cp:lastModifiedBy>
  <cp:revision>435</cp:revision>
  <dcterms:created xsi:type="dcterms:W3CDTF">2016-02-06T05:46:13Z</dcterms:created>
  <dcterms:modified xsi:type="dcterms:W3CDTF">2026-01-14T01:33:27Z</dcterms:modified>
</cp:coreProperties>
</file>